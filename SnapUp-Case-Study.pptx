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B7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874519"/>
            <a:ext cx="10058400" cy="365760"/>
          </a:xfrm>
          <a:prstGeom prst="rect">
            <a:avLst/>
          </a:prstGeom>
          <a:noFill/>
        </p:spPr>
        <p:txBody>
          <a:bodyPr wrap="square" anchor="t" lIns="0" rIns="0" tIns="0" bIns="0">
            <a:spAutoFit/>
          </a:bodyPr>
          <a:lstStyle/>
          <a:p>
            <a:pPr algn="l">
              <a:lnSpc>
                <a:spcPct val="100000"/>
              </a:lnSpc>
              <a:spcAft>
                <a:spcPts val="0"/>
              </a:spcAft>
            </a:pPr>
            <a:r>
              <a:rPr sz="1200" b="1">
                <a:solidFill>
                  <a:srgbClr val="7FC8AC"/>
                </a:solidFill>
                <a:latin typeface="Segoe UI"/>
              </a:rPr>
              <a:t>CASE STUDY SUBMISSION</a:t>
            </a:r>
          </a:p>
        </p:txBody>
      </p:sp>
      <p:sp>
        <p:nvSpPr>
          <p:cNvPr id="5" name="TextBox 4"/>
          <p:cNvSpPr txBox="1"/>
          <p:nvPr/>
        </p:nvSpPr>
        <p:spPr>
          <a:xfrm>
            <a:off x="914400" y="2331720"/>
            <a:ext cx="10241280" cy="1371600"/>
          </a:xfrm>
          <a:prstGeom prst="rect">
            <a:avLst/>
          </a:prstGeom>
          <a:noFill/>
        </p:spPr>
        <p:txBody>
          <a:bodyPr wrap="square" anchor="t" lIns="0" rIns="0" tIns="0" bIns="0">
            <a:spAutoFit/>
          </a:bodyPr>
          <a:lstStyle/>
          <a:p>
            <a:pPr algn="l">
              <a:lnSpc>
                <a:spcPct val="100000"/>
              </a:lnSpc>
              <a:spcAft>
                <a:spcPts val="1400"/>
              </a:spcAft>
            </a:pPr>
            <a:r>
              <a:rPr sz="5400" b="1">
                <a:solidFill>
                  <a:srgbClr val="FFFFFF"/>
                </a:solidFill>
                <a:latin typeface="Segoe UI"/>
              </a:rPr>
              <a:t>SnapUp</a:t>
            </a:r>
          </a:p>
          <a:p>
            <a:pPr algn="l">
              <a:lnSpc>
                <a:spcPct val="100000"/>
              </a:lnSpc>
              <a:spcAft>
                <a:spcPts val="1400"/>
              </a:spcAft>
            </a:pPr>
            <a:r>
              <a:rPr sz="2000" b="0">
                <a:solidFill>
                  <a:srgbClr val="B8C7D6"/>
                </a:solidFill>
                <a:latin typeface="Segoe UI"/>
              </a:rPr>
              <a:t>Scan-and-pay retail checkout, and the engineering behind it</a:t>
            </a:r>
          </a:p>
        </p:txBody>
      </p:sp>
      <p:sp>
        <p:nvSpPr>
          <p:cNvPr id="6" name="Rectangle 5"/>
          <p:cNvSpPr/>
          <p:nvPr/>
        </p:nvSpPr>
        <p:spPr>
          <a:xfrm>
            <a:off x="914400" y="4343400"/>
            <a:ext cx="2926080" cy="32004"/>
          </a:xfrm>
          <a:prstGeom prst="rect">
            <a:avLst/>
          </a:prstGeom>
          <a:solidFill>
            <a:srgbClr val="1B7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4663440"/>
            <a:ext cx="10058400" cy="1097280"/>
          </a:xfrm>
          <a:prstGeom prst="rect">
            <a:avLst/>
          </a:prstGeom>
          <a:noFill/>
        </p:spPr>
        <p:txBody>
          <a:bodyPr wrap="square" anchor="t" lIns="0" rIns="0" tIns="0" bIns="0">
            <a:spAutoFit/>
          </a:bodyPr>
          <a:lstStyle/>
          <a:p>
            <a:pPr algn="l">
              <a:lnSpc>
                <a:spcPct val="100000"/>
              </a:lnSpc>
              <a:spcAft>
                <a:spcPts val="600"/>
              </a:spcAft>
            </a:pPr>
            <a:r>
              <a:rPr sz="1400" b="0">
                <a:solidFill>
                  <a:srgbClr val="9FB2C6"/>
                </a:solidFill>
                <a:latin typeface="Segoe UI"/>
              </a:rPr>
              <a:t>A customer scans their own basket, pays, and is cleared to leave by staff.</a:t>
            </a:r>
          </a:p>
          <a:p>
            <a:pPr algn="l">
              <a:lnSpc>
                <a:spcPct val="100000"/>
              </a:lnSpc>
              <a:spcAft>
                <a:spcPts val="600"/>
              </a:spcAft>
            </a:pPr>
            <a:r>
              <a:rPr sz="1400" b="0">
                <a:solidFill>
                  <a:srgbClr val="9FB2C6"/>
                </a:solidFill>
                <a:latin typeface="Segoe UI"/>
              </a:rPr>
              <a:t>Solution, architecture, and approach — including what is not finished, and why.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45720"/>
          </a:xfrm>
          <a:prstGeom prst="rect">
            <a:avLst/>
          </a:prstGeom>
          <a:solidFill>
            <a:srgbClr val="1B7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82880"/>
            <a:ext cx="10058400" cy="256032"/>
          </a:xfrm>
          <a:prstGeom prst="rect">
            <a:avLst/>
          </a:prstGeom>
          <a:noFill/>
        </p:spPr>
        <p:txBody>
          <a:bodyPr wrap="square" anchor="t" lIns="0" rIns="0" tIns="0" bIns="0">
            <a:spAutoFit/>
          </a:bodyPr>
          <a:lstStyle/>
          <a:p>
            <a:pPr algn="l">
              <a:lnSpc>
                <a:spcPct val="100000"/>
              </a:lnSpc>
              <a:spcAft>
                <a:spcPts val="0"/>
              </a:spcAft>
            </a:pPr>
            <a:r>
              <a:rPr sz="1050" b="1">
                <a:solidFill>
                  <a:srgbClr val="7FC8AC"/>
                </a:solidFill>
                <a:latin typeface="Segoe UI"/>
              </a:rPr>
              <a:t>THE PROBLEM</a:t>
            </a:r>
          </a:p>
        </p:txBody>
      </p:sp>
      <p:sp>
        <p:nvSpPr>
          <p:cNvPr id="6" name="TextBox 5"/>
          <p:cNvSpPr txBox="1"/>
          <p:nvPr/>
        </p:nvSpPr>
        <p:spPr>
          <a:xfrm>
            <a:off x="566928" y="438912"/>
            <a:ext cx="11064240" cy="502920"/>
          </a:xfrm>
          <a:prstGeom prst="rect">
            <a:avLst/>
          </a:prstGeom>
          <a:noFill/>
        </p:spPr>
        <p:txBody>
          <a:bodyPr wrap="square" anchor="t" lIns="0" rIns="0" tIns="0" bIns="0">
            <a:spAutoFit/>
          </a:bodyPr>
          <a:lstStyle/>
          <a:p>
            <a:pPr algn="l">
              <a:lnSpc>
                <a:spcPct val="100000"/>
              </a:lnSpc>
              <a:spcAft>
                <a:spcPts val="0"/>
              </a:spcAft>
            </a:pPr>
            <a:r>
              <a:rPr sz="2500" b="1">
                <a:solidFill>
                  <a:srgbClr val="FFFFFF"/>
                </a:solidFill>
                <a:latin typeface="Segoe UI"/>
              </a:rPr>
              <a:t>What the brief asked for</a:t>
            </a:r>
          </a:p>
        </p:txBody>
      </p:sp>
      <p:sp>
        <p:nvSpPr>
          <p:cNvPr id="7" name="TextBox 6"/>
          <p:cNvSpPr txBox="1"/>
          <p:nvPr/>
        </p:nvSpPr>
        <p:spPr>
          <a:xfrm>
            <a:off x="566928" y="1508760"/>
            <a:ext cx="5486400" cy="4114800"/>
          </a:xfrm>
          <a:prstGeom prst="rect">
            <a:avLst/>
          </a:prstGeom>
          <a:noFill/>
        </p:spPr>
        <p:txBody>
          <a:bodyPr wrap="square" anchor="t" lIns="0" rIns="0" tIns="0" bIns="0">
            <a:spAutoFit/>
          </a:bodyPr>
          <a:lstStyle/>
          <a:p>
            <a:pPr algn="l">
              <a:lnSpc>
                <a:spcPct val="115000"/>
              </a:lnSpc>
              <a:spcAft>
                <a:spcPts val="900"/>
              </a:spcAft>
            </a:pPr>
            <a:r>
              <a:rPr sz="1400" b="1">
                <a:solidFill>
                  <a:srgbClr val="0F2A4A"/>
                </a:solidFill>
                <a:latin typeface="Segoe UI"/>
              </a:rPr>
              <a:t>Scan, don't queue.  </a:t>
            </a:r>
          </a:p>
          <a:p>
            <a:pPr algn="l">
              <a:lnSpc>
                <a:spcPct val="115000"/>
              </a:lnSpc>
              <a:spcAft>
                <a:spcPts val="900"/>
              </a:spcAft>
            </a:pPr>
            <a:r>
              <a:rPr sz="1350" b="0">
                <a:solidFill>
                  <a:srgbClr val="4B5563"/>
                </a:solidFill>
                <a:latin typeface="Segoe UI"/>
              </a:rPr>
              <a:t>The customer scans items into a cart on their own phone. No till, no staff member handling the basket.</a:t>
            </a:r>
          </a:p>
          <a:p>
            <a:pPr algn="l">
              <a:lnSpc>
                <a:spcPct val="115000"/>
              </a:lnSpc>
              <a:spcAft>
                <a:spcPts val="900"/>
              </a:spcAft>
            </a:pPr>
            <a:r>
              <a:rPr sz="1400" b="1">
                <a:solidFill>
                  <a:srgbClr val="0F2A4A"/>
                </a:solidFill>
                <a:latin typeface="Segoe UI"/>
              </a:rPr>
              <a:t>Nothing is final until staff say so.  </a:t>
            </a:r>
          </a:p>
          <a:p>
            <a:pPr algn="l">
              <a:lnSpc>
                <a:spcPct val="115000"/>
              </a:lnSpc>
              <a:spcAft>
                <a:spcPts val="900"/>
              </a:spcAft>
            </a:pPr>
            <a:r>
              <a:rPr sz="1350" b="0">
                <a:solidFill>
                  <a:srgbClr val="4B5563"/>
                </a:solidFill>
                <a:latin typeface="Segoe UI"/>
              </a:rPr>
              <a:t>Payment alone must not produce a bill or move stock. A member of staff verifies and approves at the exit.</a:t>
            </a:r>
          </a:p>
          <a:p>
            <a:pPr algn="l">
              <a:lnSpc>
                <a:spcPct val="115000"/>
              </a:lnSpc>
              <a:spcAft>
                <a:spcPts val="900"/>
              </a:spcAft>
            </a:pPr>
            <a:r>
              <a:rPr sz="1400" b="1">
                <a:solidFill>
                  <a:srgbClr val="0F2A4A"/>
                </a:solidFill>
                <a:latin typeface="Segoe UI"/>
              </a:rPr>
              <a:t>Stock must be exactly right.  </a:t>
            </a:r>
          </a:p>
          <a:p>
            <a:pPr algn="l">
              <a:lnSpc>
                <a:spcPct val="115000"/>
              </a:lnSpc>
              <a:spcAft>
                <a:spcPts val="900"/>
              </a:spcAft>
            </a:pPr>
            <a:r>
              <a:rPr sz="1350" b="0">
                <a:solidFill>
                  <a:srgbClr val="4B5563"/>
                </a:solidFill>
                <a:latin typeface="Segoe UI"/>
              </a:rPr>
              <a:t>One approval, one deduction — through refreshes, double-clicks, retried webhooks and duplicate gateway callbacks.</a:t>
            </a:r>
          </a:p>
          <a:p>
            <a:pPr algn="l">
              <a:lnSpc>
                <a:spcPct val="115000"/>
              </a:lnSpc>
              <a:spcAft>
                <a:spcPts val="900"/>
              </a:spcAft>
            </a:pPr>
            <a:r>
              <a:rPr sz="1400" b="1">
                <a:solidFill>
                  <a:srgbClr val="0F2A4A"/>
                </a:solidFill>
                <a:latin typeface="Segoe UI"/>
              </a:rPr>
              <a:t>Two databases, one truth.  </a:t>
            </a:r>
          </a:p>
          <a:p>
            <a:pPr algn="l">
              <a:lnSpc>
                <a:spcPct val="115000"/>
              </a:lnSpc>
              <a:spcAft>
                <a:spcPts val="900"/>
              </a:spcAft>
            </a:pPr>
            <a:r>
              <a:rPr sz="1350" b="0">
                <a:solidFill>
                  <a:srgbClr val="4B5563"/>
                </a:solidFill>
                <a:latin typeface="Segoe UI"/>
              </a:rPr>
              <a:t>The app writes to a duplicate database; the shop's original must catch up every 30 minutes without either overwriting the other.</a:t>
            </a:r>
          </a:p>
        </p:txBody>
      </p:sp>
      <p:sp>
        <p:nvSpPr>
          <p:cNvPr id="8" name="Rectangle 7"/>
          <p:cNvSpPr/>
          <p:nvPr/>
        </p:nvSpPr>
        <p:spPr>
          <a:xfrm>
            <a:off x="6492240" y="1572768"/>
            <a:ext cx="5120640" cy="3977639"/>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12280" y="1828800"/>
            <a:ext cx="4572000" cy="3474720"/>
          </a:xfrm>
          <a:prstGeom prst="rect">
            <a:avLst/>
          </a:prstGeom>
          <a:noFill/>
        </p:spPr>
        <p:txBody>
          <a:bodyPr wrap="square" anchor="t" lIns="0" rIns="0" tIns="0" bIns="0">
            <a:spAutoFit/>
          </a:bodyPr>
          <a:lstStyle/>
          <a:p>
            <a:pPr algn="l">
              <a:lnSpc>
                <a:spcPct val="110000"/>
              </a:lnSpc>
              <a:spcAft>
                <a:spcPts val="1100"/>
              </a:spcAft>
            </a:pPr>
            <a:r>
              <a:rPr sz="1400" b="1">
                <a:solidFill>
                  <a:srgbClr val="0F2A4A"/>
                </a:solidFill>
                <a:latin typeface="Segoe UI"/>
              </a:rPr>
              <a:t>The five ways this goes wrong</a:t>
            </a:r>
          </a:p>
          <a:p>
            <a:pPr algn="l">
              <a:lnSpc>
                <a:spcPct val="110000"/>
              </a:lnSpc>
              <a:spcAft>
                <a:spcPts val="1100"/>
              </a:spcAft>
            </a:pPr>
            <a:r>
              <a:rPr sz="1250" b="0">
                <a:solidFill>
                  <a:srgbClr val="4B5563"/>
                </a:solidFill>
                <a:latin typeface="Segoe UI"/>
              </a:rPr>
              <a:t>A bill exists before anyone approved it.</a:t>
            </a:r>
          </a:p>
          <a:p>
            <a:pPr algn="l">
              <a:lnSpc>
                <a:spcPct val="110000"/>
              </a:lnSpc>
              <a:spcAft>
                <a:spcPts val="1100"/>
              </a:spcAft>
            </a:pPr>
            <a:r>
              <a:rPr sz="1250" b="0">
                <a:solidFill>
                  <a:srgbClr val="4B5563"/>
                </a:solidFill>
                <a:latin typeface="Segoe UI"/>
              </a:rPr>
              <a:t>Stock is deducted twice for one basket.</a:t>
            </a:r>
          </a:p>
          <a:p>
            <a:pPr algn="l">
              <a:lnSpc>
                <a:spcPct val="110000"/>
              </a:lnSpc>
              <a:spcAft>
                <a:spcPts val="1100"/>
              </a:spcAft>
            </a:pPr>
            <a:r>
              <a:rPr sz="1250" b="0">
                <a:solidFill>
                  <a:srgbClr val="4B5563"/>
                </a:solidFill>
                <a:latin typeface="Segoe UI"/>
              </a:rPr>
              <a:t>Stock is deducted for a sale that never completed.</a:t>
            </a:r>
          </a:p>
          <a:p>
            <a:pPr algn="l">
              <a:lnSpc>
                <a:spcPct val="110000"/>
              </a:lnSpc>
              <a:spcAft>
                <a:spcPts val="1100"/>
              </a:spcAft>
            </a:pPr>
            <a:r>
              <a:rPr sz="1250" b="0">
                <a:solidFill>
                  <a:srgbClr val="4B5563"/>
                </a:solidFill>
                <a:latin typeface="Segoe UI"/>
              </a:rPr>
              <a:t>The scanner works once, then silently stops.</a:t>
            </a:r>
          </a:p>
          <a:p>
            <a:pPr algn="l">
              <a:lnSpc>
                <a:spcPct val="110000"/>
              </a:lnSpc>
              <a:spcAft>
                <a:spcPts val="1100"/>
              </a:spcAft>
            </a:pPr>
            <a:r>
              <a:rPr sz="1250" b="0">
                <a:solidFill>
                  <a:srgbClr val="4B5563"/>
                </a:solidFill>
                <a:latin typeface="Segoe UI"/>
              </a:rPr>
              <a:t>The sync overwrites the shop's own till sales.</a:t>
            </a:r>
          </a:p>
          <a:p>
            <a:pPr algn="l">
              <a:lnSpc>
                <a:spcPct val="110000"/>
              </a:lnSpc>
              <a:spcAft>
                <a:spcPts val="1100"/>
              </a:spcAft>
            </a:pPr>
            <a:r>
              <a:rPr sz="1200" b="0">
                <a:solidFill>
                  <a:srgbClr val="6B7280"/>
                </a:solidFill>
                <a:latin typeface="Segoe UI"/>
              </a:rPr>
              <a:t>Each one is a shop that cannot trade, or a count nobody can trust. They set every decision that follows.</a:t>
            </a:r>
          </a:p>
        </p:txBody>
      </p:sp>
      <p:sp>
        <p:nvSpPr>
          <p:cNvPr id="10" name="TextBox 9"/>
          <p:cNvSpPr txBox="1"/>
          <p:nvPr/>
        </p:nvSpPr>
        <p:spPr>
          <a:xfrm>
            <a:off x="566928" y="6437376"/>
            <a:ext cx="7315200" cy="237744"/>
          </a:xfrm>
          <a:prstGeom prst="rect">
            <a:avLst/>
          </a:prstGeom>
          <a:noFill/>
        </p:spPr>
        <p:txBody>
          <a:bodyPr wrap="square" anchor="t" lIns="0" rIns="0" tIns="0" bIns="0">
            <a:spAutoFit/>
          </a:bodyPr>
          <a:lstStyle/>
          <a:p>
            <a:pPr algn="l">
              <a:lnSpc>
                <a:spcPct val="100000"/>
              </a:lnSpc>
              <a:spcAft>
                <a:spcPts val="0"/>
              </a:spcAft>
            </a:pPr>
            <a:r>
              <a:rPr sz="900" b="0">
                <a:solidFill>
                  <a:srgbClr val="6B7280"/>
                </a:solidFill>
                <a:latin typeface="Segoe UI"/>
              </a:rPr>
              <a:t>SnapUp — scan-and-pay retail checkout</a:t>
            </a:r>
          </a:p>
        </p:txBody>
      </p:sp>
      <p:sp>
        <p:nvSpPr>
          <p:cNvPr id="11" name="TextBox 10"/>
          <p:cNvSpPr txBox="1"/>
          <p:nvPr/>
        </p:nvSpPr>
        <p:spPr>
          <a:xfrm>
            <a:off x="11002975" y="6437376"/>
            <a:ext cx="640080" cy="237744"/>
          </a:xfrm>
          <a:prstGeom prst="rect">
            <a:avLst/>
          </a:prstGeom>
          <a:noFill/>
        </p:spPr>
        <p:txBody>
          <a:bodyPr wrap="square" anchor="t" lIns="0" rIns="0" tIns="0" bIns="0">
            <a:spAutoFit/>
          </a:bodyPr>
          <a:lstStyle/>
          <a:p>
            <a:pPr algn="r">
              <a:lnSpc>
                <a:spcPct val="100000"/>
              </a:lnSpc>
              <a:spcAft>
                <a:spcPts val="0"/>
              </a:spcAft>
            </a:pPr>
            <a:r>
              <a:rPr sz="900" b="0">
                <a:solidFill>
                  <a:srgbClr val="6B7280"/>
                </a:solidFill>
                <a:latin typeface="Segoe U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45720"/>
          </a:xfrm>
          <a:prstGeom prst="rect">
            <a:avLst/>
          </a:prstGeom>
          <a:solidFill>
            <a:srgbClr val="1B7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82880"/>
            <a:ext cx="10058400" cy="256032"/>
          </a:xfrm>
          <a:prstGeom prst="rect">
            <a:avLst/>
          </a:prstGeom>
          <a:noFill/>
        </p:spPr>
        <p:txBody>
          <a:bodyPr wrap="square" anchor="t" lIns="0" rIns="0" tIns="0" bIns="0">
            <a:spAutoFit/>
          </a:bodyPr>
          <a:lstStyle/>
          <a:p>
            <a:pPr algn="l">
              <a:lnSpc>
                <a:spcPct val="100000"/>
              </a:lnSpc>
              <a:spcAft>
                <a:spcPts val="0"/>
              </a:spcAft>
            </a:pPr>
            <a:r>
              <a:rPr sz="1050" b="1">
                <a:solidFill>
                  <a:srgbClr val="7FC8AC"/>
                </a:solidFill>
                <a:latin typeface="Segoe UI"/>
              </a:rPr>
              <a:t>ARCHITECTURE</a:t>
            </a:r>
          </a:p>
        </p:txBody>
      </p:sp>
      <p:sp>
        <p:nvSpPr>
          <p:cNvPr id="6" name="TextBox 5"/>
          <p:cNvSpPr txBox="1"/>
          <p:nvPr/>
        </p:nvSpPr>
        <p:spPr>
          <a:xfrm>
            <a:off x="566928" y="438912"/>
            <a:ext cx="11064240" cy="502920"/>
          </a:xfrm>
          <a:prstGeom prst="rect">
            <a:avLst/>
          </a:prstGeom>
          <a:noFill/>
        </p:spPr>
        <p:txBody>
          <a:bodyPr wrap="square" anchor="t" lIns="0" rIns="0" tIns="0" bIns="0">
            <a:spAutoFit/>
          </a:bodyPr>
          <a:lstStyle/>
          <a:p>
            <a:pPr algn="l">
              <a:lnSpc>
                <a:spcPct val="100000"/>
              </a:lnSpc>
              <a:spcAft>
                <a:spcPts val="0"/>
              </a:spcAft>
            </a:pPr>
            <a:r>
              <a:rPr sz="2500" b="1">
                <a:solidFill>
                  <a:srgbClr val="FFFFFF"/>
                </a:solidFill>
                <a:latin typeface="Segoe UI"/>
              </a:rPr>
              <a:t>What was built</a:t>
            </a:r>
          </a:p>
        </p:txBody>
      </p:sp>
      <p:sp>
        <p:nvSpPr>
          <p:cNvPr id="7" name="Rectangle 6"/>
          <p:cNvSpPr/>
          <p:nvPr/>
        </p:nvSpPr>
        <p:spPr>
          <a:xfrm>
            <a:off x="566928" y="1536192"/>
            <a:ext cx="3520440" cy="178308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536192"/>
            <a:ext cx="54864" cy="1783080"/>
          </a:xfrm>
          <a:prstGeom prst="rect">
            <a:avLst/>
          </a:prstGeom>
          <a:solidFill>
            <a:srgbClr val="1B7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1755648"/>
            <a:ext cx="3017520" cy="1371600"/>
          </a:xfrm>
          <a:prstGeom prst="rect">
            <a:avLst/>
          </a:prstGeom>
          <a:noFill/>
        </p:spPr>
        <p:txBody>
          <a:bodyPr wrap="square" anchor="t" lIns="0" rIns="0" tIns="0" bIns="0">
            <a:spAutoFit/>
          </a:bodyPr>
          <a:lstStyle/>
          <a:p>
            <a:pPr algn="l">
              <a:lnSpc>
                <a:spcPct val="110000"/>
              </a:lnSpc>
              <a:spcAft>
                <a:spcPts val="400"/>
              </a:spcAft>
            </a:pPr>
            <a:r>
              <a:rPr sz="1500" b="1">
                <a:solidFill>
                  <a:srgbClr val="0F2A4A"/>
                </a:solidFill>
                <a:latin typeface="Segoe UI"/>
              </a:rPr>
              <a:t>customer-web</a:t>
            </a:r>
          </a:p>
          <a:p>
            <a:pPr algn="l">
              <a:lnSpc>
                <a:spcPct val="110000"/>
              </a:lnSpc>
              <a:spcAft>
                <a:spcPts val="400"/>
              </a:spcAft>
            </a:pPr>
            <a:r>
              <a:rPr sz="1200" b="0">
                <a:solidFill>
                  <a:srgbClr val="4B5563"/>
                </a:solidFill>
                <a:latin typeface="Segoe UI"/>
              </a:rPr>
              <a:t>Next.js app the shopper uses.</a:t>
            </a:r>
          </a:p>
          <a:p>
            <a:pPr algn="l">
              <a:lnSpc>
                <a:spcPct val="110000"/>
              </a:lnSpc>
              <a:spcAft>
                <a:spcPts val="400"/>
              </a:spcAft>
            </a:pPr>
            <a:r>
              <a:rPr sz="1200" b="0">
                <a:solidFill>
                  <a:srgbClr val="4B5563"/>
                </a:solidFill>
                <a:latin typeface="Segoe UI"/>
              </a:rPr>
              <a:t>Entry QR, scanner, cart,</a:t>
            </a:r>
          </a:p>
          <a:p>
            <a:pPr algn="l">
              <a:lnSpc>
                <a:spcPct val="110000"/>
              </a:lnSpc>
              <a:spcAft>
                <a:spcPts val="400"/>
              </a:spcAft>
            </a:pPr>
            <a:r>
              <a:rPr sz="1200" b="0">
                <a:solidFill>
                  <a:srgbClr val="4B5563"/>
                </a:solidFill>
                <a:latin typeface="Segoe UI"/>
              </a:rPr>
              <a:t>checkout, bills.</a:t>
            </a:r>
          </a:p>
        </p:txBody>
      </p:sp>
      <p:sp>
        <p:nvSpPr>
          <p:cNvPr id="10" name="Rectangle 9"/>
          <p:cNvSpPr/>
          <p:nvPr/>
        </p:nvSpPr>
        <p:spPr>
          <a:xfrm>
            <a:off x="4361688" y="1536192"/>
            <a:ext cx="3520440" cy="178308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61688" y="1536192"/>
            <a:ext cx="54864" cy="178308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36008" y="1755648"/>
            <a:ext cx="3017520" cy="1371600"/>
          </a:xfrm>
          <a:prstGeom prst="rect">
            <a:avLst/>
          </a:prstGeom>
          <a:noFill/>
        </p:spPr>
        <p:txBody>
          <a:bodyPr wrap="square" anchor="t" lIns="0" rIns="0" tIns="0" bIns="0">
            <a:spAutoFit/>
          </a:bodyPr>
          <a:lstStyle/>
          <a:p>
            <a:pPr algn="l">
              <a:lnSpc>
                <a:spcPct val="110000"/>
              </a:lnSpc>
              <a:spcAft>
                <a:spcPts val="400"/>
              </a:spcAft>
            </a:pPr>
            <a:r>
              <a:rPr sz="1500" b="1">
                <a:solidFill>
                  <a:srgbClr val="0F2A4A"/>
                </a:solidFill>
                <a:latin typeface="Segoe UI"/>
              </a:rPr>
              <a:t>admin-web</a:t>
            </a:r>
          </a:p>
          <a:p>
            <a:pPr algn="l">
              <a:lnSpc>
                <a:spcPct val="110000"/>
              </a:lnSpc>
              <a:spcAft>
                <a:spcPts val="400"/>
              </a:spcAft>
            </a:pPr>
            <a:r>
              <a:rPr sz="1200" b="0">
                <a:solidFill>
                  <a:srgbClr val="4B5563"/>
                </a:solidFill>
                <a:latin typeface="Segoe UI"/>
              </a:rPr>
              <a:t>Owner console.</a:t>
            </a:r>
          </a:p>
          <a:p>
            <a:pPr algn="l">
              <a:lnSpc>
                <a:spcPct val="110000"/>
              </a:lnSpc>
              <a:spcAft>
                <a:spcPts val="400"/>
              </a:spcAft>
            </a:pPr>
            <a:r>
              <a:rPr sz="1200" b="0">
                <a:solidFill>
                  <a:srgbClr val="4B5563"/>
                </a:solidFill>
                <a:latin typeface="Segoe UI"/>
              </a:rPr>
              <a:t>Products, stores, staff,</a:t>
            </a:r>
          </a:p>
          <a:p>
            <a:pPr algn="l">
              <a:lnSpc>
                <a:spcPct val="110000"/>
              </a:lnSpc>
              <a:spcAft>
                <a:spcPts val="400"/>
              </a:spcAft>
            </a:pPr>
            <a:r>
              <a:rPr sz="1200" b="0">
                <a:solidFill>
                  <a:srgbClr val="4B5563"/>
                </a:solidFill>
                <a:latin typeface="Segoe UI"/>
              </a:rPr>
              <a:t>analytics, security flags.</a:t>
            </a:r>
          </a:p>
        </p:txBody>
      </p:sp>
      <p:sp>
        <p:nvSpPr>
          <p:cNvPr id="13" name="Rectangle 12"/>
          <p:cNvSpPr/>
          <p:nvPr/>
        </p:nvSpPr>
        <p:spPr>
          <a:xfrm>
            <a:off x="8156448" y="1536192"/>
            <a:ext cx="3520440" cy="178308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56448" y="1536192"/>
            <a:ext cx="54864" cy="178308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30768" y="1755648"/>
            <a:ext cx="3017520" cy="1371600"/>
          </a:xfrm>
          <a:prstGeom prst="rect">
            <a:avLst/>
          </a:prstGeom>
          <a:noFill/>
        </p:spPr>
        <p:txBody>
          <a:bodyPr wrap="square" anchor="t" lIns="0" rIns="0" tIns="0" bIns="0">
            <a:spAutoFit/>
          </a:bodyPr>
          <a:lstStyle/>
          <a:p>
            <a:pPr algn="l">
              <a:lnSpc>
                <a:spcPct val="110000"/>
              </a:lnSpc>
              <a:spcAft>
                <a:spcPts val="400"/>
              </a:spcAft>
            </a:pPr>
            <a:r>
              <a:rPr sz="1500" b="1">
                <a:solidFill>
                  <a:srgbClr val="0F2A4A"/>
                </a:solidFill>
                <a:latin typeface="Segoe UI"/>
              </a:rPr>
              <a:t>server boundary</a:t>
            </a:r>
          </a:p>
          <a:p>
            <a:pPr algn="l">
              <a:lnSpc>
                <a:spcPct val="110000"/>
              </a:lnSpc>
              <a:spcAft>
                <a:spcPts val="400"/>
              </a:spcAft>
            </a:pPr>
            <a:r>
              <a:rPr sz="1200" b="0">
                <a:solidFill>
                  <a:srgbClr val="4B5563"/>
                </a:solidFill>
                <a:latin typeface="Segoe UI"/>
              </a:rPr>
              <a:t>Every rule lives here.</a:t>
            </a:r>
          </a:p>
          <a:p>
            <a:pPr algn="l">
              <a:lnSpc>
                <a:spcPct val="110000"/>
              </a:lnSpc>
              <a:spcAft>
                <a:spcPts val="400"/>
              </a:spcAft>
            </a:pPr>
            <a:r>
              <a:rPr sz="1200" b="0">
                <a:solidFill>
                  <a:srgbClr val="4B5563"/>
                </a:solidFill>
                <a:latin typeface="Segoe UI"/>
              </a:rPr>
              <a:t>Presence, pricing, stock,</a:t>
            </a:r>
          </a:p>
          <a:p>
            <a:pPr algn="l">
              <a:lnSpc>
                <a:spcPct val="110000"/>
              </a:lnSpc>
              <a:spcAft>
                <a:spcPts val="400"/>
              </a:spcAft>
            </a:pPr>
            <a:r>
              <a:rPr sz="1200" b="0">
                <a:solidFill>
                  <a:srgbClr val="4B5563"/>
                </a:solidFill>
                <a:latin typeface="Segoe UI"/>
              </a:rPr>
              <a:t>projection, sync.</a:t>
            </a:r>
          </a:p>
        </p:txBody>
      </p:sp>
      <p:sp>
        <p:nvSpPr>
          <p:cNvPr id="16" name="TextBox 15"/>
          <p:cNvSpPr txBox="1"/>
          <p:nvPr/>
        </p:nvSpPr>
        <p:spPr>
          <a:xfrm>
            <a:off x="566928" y="3611880"/>
            <a:ext cx="11064240" cy="365760"/>
          </a:xfrm>
          <a:prstGeom prst="rect">
            <a:avLst/>
          </a:prstGeom>
          <a:noFill/>
        </p:spPr>
        <p:txBody>
          <a:bodyPr wrap="square" anchor="t" lIns="0" rIns="0" tIns="0" bIns="0">
            <a:spAutoFit/>
          </a:bodyPr>
          <a:lstStyle/>
          <a:p>
            <a:pPr algn="l">
              <a:lnSpc>
                <a:spcPct val="100000"/>
              </a:lnSpc>
              <a:spcAft>
                <a:spcPts val="800"/>
              </a:spcAft>
            </a:pPr>
            <a:r>
              <a:rPr sz="1500" b="1">
                <a:solidFill>
                  <a:srgbClr val="0F2A4A"/>
                </a:solidFill>
                <a:latin typeface="Segoe UI"/>
              </a:rPr>
              <a:t>The data layer</a:t>
            </a:r>
          </a:p>
        </p:txBody>
      </p:sp>
      <p:sp>
        <p:nvSpPr>
          <p:cNvPr id="17" name="TextBox 16"/>
          <p:cNvSpPr txBox="1"/>
          <p:nvPr/>
        </p:nvSpPr>
        <p:spPr>
          <a:xfrm>
            <a:off x="566928" y="3977639"/>
            <a:ext cx="5394960" cy="4114800"/>
          </a:xfrm>
          <a:prstGeom prst="rect">
            <a:avLst/>
          </a:prstGeom>
          <a:noFill/>
        </p:spPr>
        <p:txBody>
          <a:bodyPr wrap="square" anchor="t" lIns="0" rIns="0" tIns="0" bIns="0">
            <a:spAutoFit/>
          </a:bodyPr>
          <a:lstStyle/>
          <a:p>
            <a:pPr algn="l">
              <a:lnSpc>
                <a:spcPct val="115000"/>
              </a:lnSpc>
              <a:spcAft>
                <a:spcPts val="800"/>
              </a:spcAft>
            </a:pPr>
            <a:r>
              <a:rPr sz="1300" b="0">
                <a:solidFill>
                  <a:srgbClr val="4B5563"/>
                </a:solidFill>
                <a:latin typeface="Segoe UI"/>
              </a:rPr>
              <a:t>•  PostgreSQL. PGlite (Postgres in WebAssembly) locally, Neon in deployment — same schema, same SQL.</a:t>
            </a:r>
          </a:p>
          <a:p>
            <a:pPr algn="l">
              <a:lnSpc>
                <a:spcPct val="115000"/>
              </a:lnSpc>
              <a:spcAft>
                <a:spcPts val="800"/>
              </a:spcAft>
            </a:pPr>
            <a:r>
              <a:rPr sz="1300" b="0">
                <a:solidFill>
                  <a:srgbClr val="4B5563"/>
                </a:solidFill>
                <a:latin typeface="Segoe UI"/>
              </a:rPr>
              <a:t>•  The HTTP driver has no session, so there is no BEGIN/COMMIT. Every invariant is one statement.</a:t>
            </a:r>
          </a:p>
          <a:p>
            <a:pPr algn="l">
              <a:lnSpc>
                <a:spcPct val="115000"/>
              </a:lnSpc>
              <a:spcAft>
                <a:spcPts val="800"/>
              </a:spcAft>
            </a:pPr>
            <a:r>
              <a:rPr sz="1300" b="0">
                <a:solidFill>
                  <a:srgbClr val="4B5563"/>
                </a:solidFill>
                <a:latin typeface="Segoe UI"/>
              </a:rPr>
              <a:t>•  547-SKU pilot catalogue imported from CSV, which is what a POS actually exports.</a:t>
            </a:r>
          </a:p>
        </p:txBody>
      </p:sp>
      <p:sp>
        <p:nvSpPr>
          <p:cNvPr id="18" name="Rectangle 17"/>
          <p:cNvSpPr/>
          <p:nvPr/>
        </p:nvSpPr>
        <p:spPr>
          <a:xfrm>
            <a:off x="6492240" y="3931920"/>
            <a:ext cx="5120640" cy="160020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766560" y="4114800"/>
            <a:ext cx="4572000" cy="1280160"/>
          </a:xfrm>
          <a:prstGeom prst="rect">
            <a:avLst/>
          </a:prstGeom>
          <a:noFill/>
        </p:spPr>
        <p:txBody>
          <a:bodyPr wrap="square" anchor="t" lIns="0" rIns="0" tIns="0" bIns="0">
            <a:spAutoFit/>
          </a:bodyPr>
          <a:lstStyle/>
          <a:p>
            <a:pPr algn="l">
              <a:lnSpc>
                <a:spcPct val="112000"/>
              </a:lnSpc>
              <a:spcAft>
                <a:spcPts val="600"/>
              </a:spcAft>
            </a:pPr>
            <a:r>
              <a:rPr sz="1300" b="1">
                <a:solidFill>
                  <a:srgbClr val="0F2A4A"/>
                </a:solidFill>
                <a:latin typeface="Segoe UI"/>
              </a:rPr>
              <a:t>Why one statement matters</a:t>
            </a:r>
          </a:p>
          <a:p>
            <a:pPr algn="l">
              <a:lnSpc>
                <a:spcPct val="112000"/>
              </a:lnSpc>
              <a:spcAft>
                <a:spcPts val="600"/>
              </a:spcAft>
            </a:pPr>
            <a:r>
              <a:rPr sz="1200" b="0">
                <a:solidFill>
                  <a:srgbClr val="4B5563"/>
                </a:solidFill>
                <a:latin typeface="Segoe UI"/>
              </a:rPr>
              <a:t>With no transaction to wrap them, two statements can half-happen. So stock, approval and state all move in a single CTE — or none of them do.</a:t>
            </a:r>
          </a:p>
        </p:txBody>
      </p:sp>
      <p:sp>
        <p:nvSpPr>
          <p:cNvPr id="20" name="TextBox 19"/>
          <p:cNvSpPr txBox="1"/>
          <p:nvPr/>
        </p:nvSpPr>
        <p:spPr>
          <a:xfrm>
            <a:off x="566928" y="6437376"/>
            <a:ext cx="7315200" cy="237744"/>
          </a:xfrm>
          <a:prstGeom prst="rect">
            <a:avLst/>
          </a:prstGeom>
          <a:noFill/>
        </p:spPr>
        <p:txBody>
          <a:bodyPr wrap="square" anchor="t" lIns="0" rIns="0" tIns="0" bIns="0">
            <a:spAutoFit/>
          </a:bodyPr>
          <a:lstStyle/>
          <a:p>
            <a:pPr algn="l">
              <a:lnSpc>
                <a:spcPct val="100000"/>
              </a:lnSpc>
              <a:spcAft>
                <a:spcPts val="0"/>
              </a:spcAft>
            </a:pPr>
            <a:r>
              <a:rPr sz="900" b="0">
                <a:solidFill>
                  <a:srgbClr val="6B7280"/>
                </a:solidFill>
                <a:latin typeface="Segoe UI"/>
              </a:rPr>
              <a:t>SnapUp — scan-and-pay retail checkout</a:t>
            </a:r>
          </a:p>
        </p:txBody>
      </p:sp>
      <p:sp>
        <p:nvSpPr>
          <p:cNvPr id="21" name="TextBox 20"/>
          <p:cNvSpPr txBox="1"/>
          <p:nvPr/>
        </p:nvSpPr>
        <p:spPr>
          <a:xfrm>
            <a:off x="11002975" y="6437376"/>
            <a:ext cx="640080" cy="237744"/>
          </a:xfrm>
          <a:prstGeom prst="rect">
            <a:avLst/>
          </a:prstGeom>
          <a:noFill/>
        </p:spPr>
        <p:txBody>
          <a:bodyPr wrap="square" anchor="t" lIns="0" rIns="0" tIns="0" bIns="0">
            <a:spAutoFit/>
          </a:bodyPr>
          <a:lstStyle/>
          <a:p>
            <a:pPr algn="r">
              <a:lnSpc>
                <a:spcPct val="100000"/>
              </a:lnSpc>
              <a:spcAft>
                <a:spcPts val="0"/>
              </a:spcAft>
            </a:pPr>
            <a:r>
              <a:rPr sz="900" b="0">
                <a:solidFill>
                  <a:srgbClr val="6B7280"/>
                </a:solidFill>
                <a:latin typeface="Segoe U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45720"/>
          </a:xfrm>
          <a:prstGeom prst="rect">
            <a:avLst/>
          </a:prstGeom>
          <a:solidFill>
            <a:srgbClr val="1B7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82880"/>
            <a:ext cx="10058400" cy="256032"/>
          </a:xfrm>
          <a:prstGeom prst="rect">
            <a:avLst/>
          </a:prstGeom>
          <a:noFill/>
        </p:spPr>
        <p:txBody>
          <a:bodyPr wrap="square" anchor="t" lIns="0" rIns="0" tIns="0" bIns="0">
            <a:spAutoFit/>
          </a:bodyPr>
          <a:lstStyle/>
          <a:p>
            <a:pPr algn="l">
              <a:lnSpc>
                <a:spcPct val="100000"/>
              </a:lnSpc>
              <a:spcAft>
                <a:spcPts val="0"/>
              </a:spcAft>
            </a:pPr>
            <a:r>
              <a:rPr sz="1050" b="1">
                <a:solidFill>
                  <a:srgbClr val="7FC8AC"/>
                </a:solidFill>
                <a:latin typeface="Segoe UI"/>
              </a:rPr>
              <a:t>APPROACH</a:t>
            </a:r>
          </a:p>
        </p:txBody>
      </p:sp>
      <p:sp>
        <p:nvSpPr>
          <p:cNvPr id="6" name="TextBox 5"/>
          <p:cNvSpPr txBox="1"/>
          <p:nvPr/>
        </p:nvSpPr>
        <p:spPr>
          <a:xfrm>
            <a:off x="566928" y="438912"/>
            <a:ext cx="11064240" cy="502920"/>
          </a:xfrm>
          <a:prstGeom prst="rect">
            <a:avLst/>
          </a:prstGeom>
          <a:noFill/>
        </p:spPr>
        <p:txBody>
          <a:bodyPr wrap="square" anchor="t" lIns="0" rIns="0" tIns="0" bIns="0">
            <a:spAutoFit/>
          </a:bodyPr>
          <a:lstStyle/>
          <a:p>
            <a:pPr algn="l">
              <a:lnSpc>
                <a:spcPct val="100000"/>
              </a:lnSpc>
              <a:spcAft>
                <a:spcPts val="0"/>
              </a:spcAft>
            </a:pPr>
            <a:r>
              <a:rPr sz="2500" b="1">
                <a:solidFill>
                  <a:srgbClr val="FFFFFF"/>
                </a:solidFill>
                <a:latin typeface="Segoe UI"/>
              </a:rPr>
              <a:t>Three rules everything follows</a:t>
            </a:r>
          </a:p>
        </p:txBody>
      </p:sp>
      <p:sp>
        <p:nvSpPr>
          <p:cNvPr id="7" name="Rectangle 6"/>
          <p:cNvSpPr/>
          <p:nvPr/>
        </p:nvSpPr>
        <p:spPr>
          <a:xfrm>
            <a:off x="566928" y="1572768"/>
            <a:ext cx="11064240" cy="1207008"/>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572768"/>
            <a:ext cx="54864" cy="1207008"/>
          </a:xfrm>
          <a:prstGeom prst="rect">
            <a:avLst/>
          </a:prstGeom>
          <a:solidFill>
            <a:srgbClr val="1B7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755648"/>
            <a:ext cx="10424160" cy="914400"/>
          </a:xfrm>
          <a:prstGeom prst="rect">
            <a:avLst/>
          </a:prstGeom>
          <a:noFill/>
        </p:spPr>
        <p:txBody>
          <a:bodyPr wrap="square" anchor="t" lIns="0" rIns="0" tIns="0" bIns="0">
            <a:spAutoFit/>
          </a:bodyPr>
          <a:lstStyle/>
          <a:p>
            <a:pPr algn="l">
              <a:lnSpc>
                <a:spcPct val="112000"/>
              </a:lnSpc>
              <a:spcAft>
                <a:spcPts val="500"/>
              </a:spcAft>
            </a:pPr>
            <a:r>
              <a:rPr sz="1600" b="1">
                <a:solidFill>
                  <a:srgbClr val="0F2A4A"/>
                </a:solidFill>
                <a:latin typeface="Segoe UI"/>
              </a:rPr>
              <a:t>The client states intent, never facts</a:t>
            </a:r>
          </a:p>
          <a:p>
            <a:pPr algn="l">
              <a:lnSpc>
                <a:spcPct val="112000"/>
              </a:lnSpc>
              <a:spcAft>
                <a:spcPts val="500"/>
              </a:spcAft>
            </a:pPr>
            <a:r>
              <a:rPr sz="1250" b="0">
                <a:solidFill>
                  <a:srgbClr val="4B5563"/>
                </a:solidFill>
                <a:latin typeface="Segoe UI"/>
              </a:rPr>
              <a:t>The browser sends which products and how many — never the price, never the total, never "I have paid". Anything the customer's device can assert, the customer can edit.</a:t>
            </a:r>
          </a:p>
        </p:txBody>
      </p:sp>
      <p:sp>
        <p:nvSpPr>
          <p:cNvPr id="10" name="Rectangle 9"/>
          <p:cNvSpPr/>
          <p:nvPr/>
        </p:nvSpPr>
        <p:spPr>
          <a:xfrm>
            <a:off x="566928" y="2962656"/>
            <a:ext cx="11064240" cy="1207008"/>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66928" y="2962656"/>
            <a:ext cx="54864" cy="120700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14400" y="3145536"/>
            <a:ext cx="10424160" cy="914400"/>
          </a:xfrm>
          <a:prstGeom prst="rect">
            <a:avLst/>
          </a:prstGeom>
          <a:noFill/>
        </p:spPr>
        <p:txBody>
          <a:bodyPr wrap="square" anchor="t" lIns="0" rIns="0" tIns="0" bIns="0">
            <a:spAutoFit/>
          </a:bodyPr>
          <a:lstStyle/>
          <a:p>
            <a:pPr algn="l">
              <a:lnSpc>
                <a:spcPct val="112000"/>
              </a:lnSpc>
              <a:spcAft>
                <a:spcPts val="500"/>
              </a:spcAft>
            </a:pPr>
            <a:r>
              <a:rPr sz="1600" b="1">
                <a:solidFill>
                  <a:srgbClr val="0F2A4A"/>
                </a:solidFill>
                <a:latin typeface="Segoe UI"/>
              </a:rPr>
              <a:t>Invariants live in the database, not the application</a:t>
            </a:r>
          </a:p>
          <a:p>
            <a:pPr algn="l">
              <a:lnSpc>
                <a:spcPct val="112000"/>
              </a:lnSpc>
              <a:spcAft>
                <a:spcPts val="500"/>
              </a:spcAft>
            </a:pPr>
            <a:r>
              <a:rPr sz="1250" b="0">
                <a:solidFill>
                  <a:srgbClr val="4B5563"/>
                </a:solidFill>
                <a:latin typeface="Segoe UI"/>
              </a:rPr>
              <a:t>"Only one bill per payment" is a unique index, not an if-statement. Two instances racing would both pass a check and both write; only the index actually holds.</a:t>
            </a:r>
          </a:p>
        </p:txBody>
      </p:sp>
      <p:sp>
        <p:nvSpPr>
          <p:cNvPr id="13" name="Rectangle 12"/>
          <p:cNvSpPr/>
          <p:nvPr/>
        </p:nvSpPr>
        <p:spPr>
          <a:xfrm>
            <a:off x="566928" y="4352544"/>
            <a:ext cx="11064240" cy="1207008"/>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66928" y="4352544"/>
            <a:ext cx="54864" cy="120700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4535424"/>
            <a:ext cx="10424160" cy="914400"/>
          </a:xfrm>
          <a:prstGeom prst="rect">
            <a:avLst/>
          </a:prstGeom>
          <a:noFill/>
        </p:spPr>
        <p:txBody>
          <a:bodyPr wrap="square" anchor="t" lIns="0" rIns="0" tIns="0" bIns="0">
            <a:spAutoFit/>
          </a:bodyPr>
          <a:lstStyle/>
          <a:p>
            <a:pPr algn="l">
              <a:lnSpc>
                <a:spcPct val="112000"/>
              </a:lnSpc>
              <a:spcAft>
                <a:spcPts val="500"/>
              </a:spcAft>
            </a:pPr>
            <a:r>
              <a:rPr sz="1600" b="1">
                <a:solidFill>
                  <a:srgbClr val="0F2A4A"/>
                </a:solidFill>
                <a:latin typeface="Segoe UI"/>
              </a:rPr>
              <a:t>Unknown is not the same as false</a:t>
            </a:r>
          </a:p>
          <a:p>
            <a:pPr algn="l">
              <a:lnSpc>
                <a:spcPct val="112000"/>
              </a:lnSpc>
              <a:spcAft>
                <a:spcPts val="500"/>
              </a:spcAft>
            </a:pPr>
            <a:r>
              <a:rPr sz="1250" b="0">
                <a:solidFill>
                  <a:srgbClr val="4B5563"/>
                </a:solidFill>
                <a:latin typeface="Segoe UI"/>
              </a:rPr>
              <a:t>A GPS reading too vague to judge defers to the network check instead of refusing a customer standing at the till. A missing discount is not a discount of zero.</a:t>
            </a:r>
          </a:p>
        </p:txBody>
      </p:sp>
      <p:sp>
        <p:nvSpPr>
          <p:cNvPr id="16" name="TextBox 15"/>
          <p:cNvSpPr txBox="1"/>
          <p:nvPr/>
        </p:nvSpPr>
        <p:spPr>
          <a:xfrm>
            <a:off x="566928" y="6437376"/>
            <a:ext cx="7315200" cy="237744"/>
          </a:xfrm>
          <a:prstGeom prst="rect">
            <a:avLst/>
          </a:prstGeom>
          <a:noFill/>
        </p:spPr>
        <p:txBody>
          <a:bodyPr wrap="square" anchor="t" lIns="0" rIns="0" tIns="0" bIns="0">
            <a:spAutoFit/>
          </a:bodyPr>
          <a:lstStyle/>
          <a:p>
            <a:pPr algn="l">
              <a:lnSpc>
                <a:spcPct val="100000"/>
              </a:lnSpc>
              <a:spcAft>
                <a:spcPts val="0"/>
              </a:spcAft>
            </a:pPr>
            <a:r>
              <a:rPr sz="900" b="0">
                <a:solidFill>
                  <a:srgbClr val="6B7280"/>
                </a:solidFill>
                <a:latin typeface="Segoe UI"/>
              </a:rPr>
              <a:t>SnapUp — scan-and-pay retail checkout</a:t>
            </a:r>
          </a:p>
        </p:txBody>
      </p:sp>
      <p:sp>
        <p:nvSpPr>
          <p:cNvPr id="17" name="TextBox 16"/>
          <p:cNvSpPr txBox="1"/>
          <p:nvPr/>
        </p:nvSpPr>
        <p:spPr>
          <a:xfrm>
            <a:off x="11002975" y="6437376"/>
            <a:ext cx="640080" cy="237744"/>
          </a:xfrm>
          <a:prstGeom prst="rect">
            <a:avLst/>
          </a:prstGeom>
          <a:noFill/>
        </p:spPr>
        <p:txBody>
          <a:bodyPr wrap="square" anchor="t" lIns="0" rIns="0" tIns="0" bIns="0">
            <a:spAutoFit/>
          </a:bodyPr>
          <a:lstStyle/>
          <a:p>
            <a:pPr algn="r">
              <a:lnSpc>
                <a:spcPct val="100000"/>
              </a:lnSpc>
              <a:spcAft>
                <a:spcPts val="0"/>
              </a:spcAft>
            </a:pPr>
            <a:r>
              <a:rPr sz="900" b="0">
                <a:solidFill>
                  <a:srgbClr val="6B7280"/>
                </a:solidFill>
                <a:latin typeface="Segoe U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45720"/>
          </a:xfrm>
          <a:prstGeom prst="rect">
            <a:avLst/>
          </a:prstGeom>
          <a:solidFill>
            <a:srgbClr val="1B7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82880"/>
            <a:ext cx="10058400" cy="256032"/>
          </a:xfrm>
          <a:prstGeom prst="rect">
            <a:avLst/>
          </a:prstGeom>
          <a:noFill/>
        </p:spPr>
        <p:txBody>
          <a:bodyPr wrap="square" anchor="t" lIns="0" rIns="0" tIns="0" bIns="0">
            <a:spAutoFit/>
          </a:bodyPr>
          <a:lstStyle/>
          <a:p>
            <a:pPr algn="l">
              <a:lnSpc>
                <a:spcPct val="100000"/>
              </a:lnSpc>
              <a:spcAft>
                <a:spcPts val="0"/>
              </a:spcAft>
            </a:pPr>
            <a:r>
              <a:rPr sz="1050" b="1">
                <a:solidFill>
                  <a:srgbClr val="7FC8AC"/>
                </a:solidFill>
                <a:latin typeface="Segoe UI"/>
              </a:rPr>
              <a:t>REQUIREMENT 1</a:t>
            </a:r>
          </a:p>
        </p:txBody>
      </p:sp>
      <p:sp>
        <p:nvSpPr>
          <p:cNvPr id="6" name="TextBox 5"/>
          <p:cNvSpPr txBox="1"/>
          <p:nvPr/>
        </p:nvSpPr>
        <p:spPr>
          <a:xfrm>
            <a:off x="566928" y="438912"/>
            <a:ext cx="11064240" cy="502920"/>
          </a:xfrm>
          <a:prstGeom prst="rect">
            <a:avLst/>
          </a:prstGeom>
          <a:noFill/>
        </p:spPr>
        <p:txBody>
          <a:bodyPr wrap="square" anchor="t" lIns="0" rIns="0" tIns="0" bIns="0">
            <a:spAutoFit/>
          </a:bodyPr>
          <a:lstStyle/>
          <a:p>
            <a:pPr algn="l">
              <a:lnSpc>
                <a:spcPct val="100000"/>
              </a:lnSpc>
              <a:spcAft>
                <a:spcPts val="0"/>
              </a:spcAft>
            </a:pPr>
            <a:r>
              <a:rPr sz="2500" b="1">
                <a:solidFill>
                  <a:srgbClr val="FFFFFF"/>
                </a:solidFill>
                <a:latin typeface="Segoe UI"/>
              </a:rPr>
              <a:t>Proving the customer is actually in the shop</a:t>
            </a:r>
          </a:p>
        </p:txBody>
      </p:sp>
      <p:sp>
        <p:nvSpPr>
          <p:cNvPr id="7" name="TextBox 6"/>
          <p:cNvSpPr txBox="1"/>
          <p:nvPr/>
        </p:nvSpPr>
        <p:spPr>
          <a:xfrm>
            <a:off x="566928" y="1508760"/>
            <a:ext cx="5577840" cy="4114800"/>
          </a:xfrm>
          <a:prstGeom prst="rect">
            <a:avLst/>
          </a:prstGeom>
          <a:noFill/>
        </p:spPr>
        <p:txBody>
          <a:bodyPr wrap="square" anchor="t" lIns="0" rIns="0" tIns="0" bIns="0">
            <a:spAutoFit/>
          </a:bodyPr>
          <a:lstStyle/>
          <a:p>
            <a:pPr algn="l">
              <a:lnSpc>
                <a:spcPct val="115000"/>
              </a:lnSpc>
              <a:spcAft>
                <a:spcPts val="900"/>
              </a:spcAft>
            </a:pPr>
            <a:r>
              <a:rPr sz="1350" b="1">
                <a:solidFill>
                  <a:srgbClr val="0F2A4A"/>
                </a:solidFill>
                <a:latin typeface="Segoe UI"/>
              </a:rPr>
              <a:t>Two factors, both required.  </a:t>
            </a:r>
          </a:p>
          <a:p>
            <a:pPr algn="l">
              <a:lnSpc>
                <a:spcPct val="115000"/>
              </a:lnSpc>
              <a:spcAft>
                <a:spcPts val="900"/>
              </a:spcAft>
            </a:pPr>
            <a:r>
              <a:rPr sz="1300" b="0">
                <a:solidFill>
                  <a:srgbClr val="4B5563"/>
                </a:solidFill>
                <a:latin typeface="Segoe UI"/>
              </a:rPr>
              <a:t>A signed entrance QR that rotates every 120 seconds, and a request whose server-observed egress IP falls inside the store's registered network.</a:t>
            </a:r>
          </a:p>
          <a:p>
            <a:pPr algn="l">
              <a:lnSpc>
                <a:spcPct val="115000"/>
              </a:lnSpc>
              <a:spcAft>
                <a:spcPts val="900"/>
              </a:spcAft>
            </a:pPr>
            <a:r>
              <a:rPr sz="1350" b="1">
                <a:solidFill>
                  <a:srgbClr val="0F2A4A"/>
                </a:solidFill>
                <a:latin typeface="Segoe UI"/>
              </a:rPr>
              <a:t>The session dies when they leave.  </a:t>
            </a:r>
          </a:p>
          <a:p>
            <a:pPr algn="l">
              <a:lnSpc>
                <a:spcPct val="115000"/>
              </a:lnSpc>
              <a:spcAft>
                <a:spcPts val="900"/>
              </a:spcAft>
            </a:pPr>
            <a:r>
              <a:rPr sz="1300" b="0">
                <a:solidFill>
                  <a:srgbClr val="4B5563"/>
                </a:solidFill>
                <a:latin typeface="Segoe UI"/>
              </a:rPr>
              <a:t>The egress IP is signed into the session token, so walking off the shop Wi-Fi breaks the binding. No session store, no cleanup job.</a:t>
            </a:r>
          </a:p>
          <a:p>
            <a:pPr algn="l">
              <a:lnSpc>
                <a:spcPct val="115000"/>
              </a:lnSpc>
              <a:spcAft>
                <a:spcPts val="900"/>
              </a:spcAft>
            </a:pPr>
            <a:r>
              <a:rPr sz="1350" b="1">
                <a:solidFill>
                  <a:srgbClr val="0F2A4A"/>
                </a:solidFill>
                <a:latin typeface="Segoe UI"/>
              </a:rPr>
              <a:t>Fail closed.  </a:t>
            </a:r>
          </a:p>
          <a:p>
            <a:pPr algn="l">
              <a:lnSpc>
                <a:spcPct val="115000"/>
              </a:lnSpc>
              <a:spcAft>
                <a:spcPts val="900"/>
              </a:spcAft>
            </a:pPr>
            <a:r>
              <a:rPr sz="1300" b="0">
                <a:solidFill>
                  <a:srgbClr val="4B5563"/>
                </a:solidFill>
                <a:latin typeface="Segoe UI"/>
              </a:rPr>
              <a:t>A store registered without its network range refuses every shopper rather than admitting everyone.</a:t>
            </a:r>
          </a:p>
        </p:txBody>
      </p:sp>
      <p:sp>
        <p:nvSpPr>
          <p:cNvPr id="8" name="Rectangle 7"/>
          <p:cNvSpPr/>
          <p:nvPr/>
        </p:nvSpPr>
        <p:spPr>
          <a:xfrm>
            <a:off x="6492240" y="1572768"/>
            <a:ext cx="5138928" cy="3931920"/>
          </a:xfrm>
          <a:prstGeom prst="rect">
            <a:avLst/>
          </a:prstGeom>
          <a:solidFill>
            <a:srgbClr val="FD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6492240" y="1572768"/>
            <a:ext cx="54864" cy="393192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12280" y="1810512"/>
            <a:ext cx="4572000" cy="3566160"/>
          </a:xfrm>
          <a:prstGeom prst="rect">
            <a:avLst/>
          </a:prstGeom>
          <a:noFill/>
        </p:spPr>
        <p:txBody>
          <a:bodyPr wrap="square" anchor="t" lIns="0" rIns="0" tIns="0" bIns="0">
            <a:spAutoFit/>
          </a:bodyPr>
          <a:lstStyle/>
          <a:p>
            <a:pPr algn="l">
              <a:lnSpc>
                <a:spcPct val="112000"/>
              </a:lnSpc>
              <a:spcAft>
                <a:spcPts val="900"/>
              </a:spcAft>
            </a:pPr>
            <a:r>
              <a:rPr sz="1450" b="1">
                <a:solidFill>
                  <a:srgbClr val="B45309"/>
                </a:solidFill>
                <a:latin typeface="Segoe UI"/>
              </a:rPr>
              <a:t>The one deviation from the brief</a:t>
            </a:r>
          </a:p>
          <a:p>
            <a:pPr algn="l">
              <a:lnSpc>
                <a:spcPct val="112000"/>
              </a:lnSpc>
              <a:spcAft>
                <a:spcPts val="900"/>
              </a:spcAft>
            </a:pPr>
            <a:r>
              <a:rPr sz="1250" b="1">
                <a:solidFill>
                  <a:srgbClr val="0F2A4A"/>
                </a:solidFill>
                <a:latin typeface="Segoe UI"/>
              </a:rPr>
              <a:t>The report specifies checking the Wi-Fi SSID.</a:t>
            </a:r>
          </a:p>
          <a:p>
            <a:pPr algn="l">
              <a:lnSpc>
                <a:spcPct val="112000"/>
              </a:lnSpc>
              <a:spcAft>
                <a:spcPts val="900"/>
              </a:spcAft>
            </a:pPr>
            <a:r>
              <a:rPr sz="1250" b="0">
                <a:solidFill>
                  <a:srgbClr val="4B5563"/>
                </a:solidFill>
                <a:latin typeface="Segoe UI"/>
              </a:rPr>
              <a:t>Browsers cannot read the SSID. No web API exposes it, on any platform — so as written the requirement is not implementable in a web app.</a:t>
            </a:r>
          </a:p>
          <a:p>
            <a:pPr algn="l">
              <a:lnSpc>
                <a:spcPct val="112000"/>
              </a:lnSpc>
              <a:spcAft>
                <a:spcPts val="900"/>
              </a:spcAft>
            </a:pPr>
            <a:r>
              <a:rPr sz="1250" b="0">
                <a:solidFill>
                  <a:srgbClr val="4B5563"/>
                </a:solidFill>
                <a:latin typeface="Segoe UI"/>
              </a:rPr>
              <a:t>It is implemented as server-side egress-IP verification instead, which is strictly stronger: the SSID would have been asserted by the customer's device, and the egress IP is observed by the server on the connection itself.</a:t>
            </a:r>
          </a:p>
          <a:p>
            <a:pPr algn="l">
              <a:lnSpc>
                <a:spcPct val="112000"/>
              </a:lnSpc>
              <a:spcAft>
                <a:spcPts val="900"/>
              </a:spcAft>
            </a:pPr>
            <a:r>
              <a:rPr sz="1250" b="1">
                <a:solidFill>
                  <a:srgbClr val="0F2A4A"/>
                </a:solidFill>
                <a:latin typeface="Segoe UI"/>
              </a:rPr>
              <a:t>Flagged for the CTO's sign-off rather than quietly substituted.</a:t>
            </a:r>
          </a:p>
        </p:txBody>
      </p:sp>
      <p:sp>
        <p:nvSpPr>
          <p:cNvPr id="11" name="TextBox 10"/>
          <p:cNvSpPr txBox="1"/>
          <p:nvPr/>
        </p:nvSpPr>
        <p:spPr>
          <a:xfrm>
            <a:off x="566928" y="6437376"/>
            <a:ext cx="7315200" cy="237744"/>
          </a:xfrm>
          <a:prstGeom prst="rect">
            <a:avLst/>
          </a:prstGeom>
          <a:noFill/>
        </p:spPr>
        <p:txBody>
          <a:bodyPr wrap="square" anchor="t" lIns="0" rIns="0" tIns="0" bIns="0">
            <a:spAutoFit/>
          </a:bodyPr>
          <a:lstStyle/>
          <a:p>
            <a:pPr algn="l">
              <a:lnSpc>
                <a:spcPct val="100000"/>
              </a:lnSpc>
              <a:spcAft>
                <a:spcPts val="0"/>
              </a:spcAft>
            </a:pPr>
            <a:r>
              <a:rPr sz="900" b="0">
                <a:solidFill>
                  <a:srgbClr val="6B7280"/>
                </a:solidFill>
                <a:latin typeface="Segoe UI"/>
              </a:rPr>
              <a:t>SnapUp — scan-and-pay retail checkout</a:t>
            </a:r>
          </a:p>
        </p:txBody>
      </p:sp>
      <p:sp>
        <p:nvSpPr>
          <p:cNvPr id="12" name="TextBox 11"/>
          <p:cNvSpPr txBox="1"/>
          <p:nvPr/>
        </p:nvSpPr>
        <p:spPr>
          <a:xfrm>
            <a:off x="11002975" y="6437376"/>
            <a:ext cx="640080" cy="237744"/>
          </a:xfrm>
          <a:prstGeom prst="rect">
            <a:avLst/>
          </a:prstGeom>
          <a:noFill/>
        </p:spPr>
        <p:txBody>
          <a:bodyPr wrap="square" anchor="t" lIns="0" rIns="0" tIns="0" bIns="0">
            <a:spAutoFit/>
          </a:bodyPr>
          <a:lstStyle/>
          <a:p>
            <a:pPr algn="r">
              <a:lnSpc>
                <a:spcPct val="100000"/>
              </a:lnSpc>
              <a:spcAft>
                <a:spcPts val="0"/>
              </a:spcAft>
            </a:pPr>
            <a:r>
              <a:rPr sz="900" b="0">
                <a:solidFill>
                  <a:srgbClr val="6B7280"/>
                </a:solidFill>
                <a:latin typeface="Segoe U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45720"/>
          </a:xfrm>
          <a:prstGeom prst="rect">
            <a:avLst/>
          </a:prstGeom>
          <a:solidFill>
            <a:srgbClr val="1B7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82880"/>
            <a:ext cx="10058400" cy="256032"/>
          </a:xfrm>
          <a:prstGeom prst="rect">
            <a:avLst/>
          </a:prstGeom>
          <a:noFill/>
        </p:spPr>
        <p:txBody>
          <a:bodyPr wrap="square" anchor="t" lIns="0" rIns="0" tIns="0" bIns="0">
            <a:spAutoFit/>
          </a:bodyPr>
          <a:lstStyle/>
          <a:p>
            <a:pPr algn="l">
              <a:lnSpc>
                <a:spcPct val="100000"/>
              </a:lnSpc>
              <a:spcAft>
                <a:spcPts val="0"/>
              </a:spcAft>
            </a:pPr>
            <a:r>
              <a:rPr sz="1050" b="1">
                <a:solidFill>
                  <a:srgbClr val="7FC8AC"/>
                </a:solidFill>
                <a:latin typeface="Segoe UI"/>
              </a:rPr>
              <a:t>REQUIREMENT 2</a:t>
            </a:r>
          </a:p>
        </p:txBody>
      </p:sp>
      <p:sp>
        <p:nvSpPr>
          <p:cNvPr id="6" name="TextBox 5"/>
          <p:cNvSpPr txBox="1"/>
          <p:nvPr/>
        </p:nvSpPr>
        <p:spPr>
          <a:xfrm>
            <a:off x="566928" y="438912"/>
            <a:ext cx="11064240" cy="502920"/>
          </a:xfrm>
          <a:prstGeom prst="rect">
            <a:avLst/>
          </a:prstGeom>
          <a:noFill/>
        </p:spPr>
        <p:txBody>
          <a:bodyPr wrap="square" anchor="t" lIns="0" rIns="0" tIns="0" bIns="0">
            <a:spAutoFit/>
          </a:bodyPr>
          <a:lstStyle/>
          <a:p>
            <a:pPr algn="l">
              <a:lnSpc>
                <a:spcPct val="100000"/>
              </a:lnSpc>
              <a:spcAft>
                <a:spcPts val="0"/>
              </a:spcAft>
            </a:pPr>
            <a:r>
              <a:rPr sz="2500" b="1">
                <a:solidFill>
                  <a:srgbClr val="FFFFFF"/>
                </a:solidFill>
                <a:latin typeface="Segoe UI"/>
              </a:rPr>
              <a:t>The catalogue never reaches the browser</a:t>
            </a:r>
          </a:p>
        </p:txBody>
      </p:sp>
      <p:sp>
        <p:nvSpPr>
          <p:cNvPr id="7" name="TextBox 6"/>
          <p:cNvSpPr txBox="1"/>
          <p:nvPr/>
        </p:nvSpPr>
        <p:spPr>
          <a:xfrm>
            <a:off x="566928" y="1508760"/>
            <a:ext cx="5577840" cy="4114800"/>
          </a:xfrm>
          <a:prstGeom prst="rect">
            <a:avLst/>
          </a:prstGeom>
          <a:noFill/>
        </p:spPr>
        <p:txBody>
          <a:bodyPr wrap="square" anchor="t" lIns="0" rIns="0" tIns="0" bIns="0">
            <a:spAutoFit/>
          </a:bodyPr>
          <a:lstStyle/>
          <a:p>
            <a:pPr algn="l">
              <a:lnSpc>
                <a:spcPct val="115000"/>
              </a:lnSpc>
              <a:spcAft>
                <a:spcPts val="900"/>
              </a:spcAft>
            </a:pPr>
            <a:r>
              <a:rPr sz="1350" b="1">
                <a:solidFill>
                  <a:srgbClr val="0F2A4A"/>
                </a:solidFill>
                <a:latin typeface="Segoe UI"/>
              </a:rPr>
              <a:t>It used to.  </a:t>
            </a:r>
          </a:p>
          <a:p>
            <a:pPr algn="l">
              <a:lnSpc>
                <a:spcPct val="115000"/>
              </a:lnSpc>
              <a:spcAft>
                <a:spcPts val="900"/>
              </a:spcAft>
            </a:pPr>
            <a:r>
              <a:rPr sz="1300" b="0">
                <a:solidFill>
                  <a:srgbClr val="4B5563"/>
                </a:solidFill>
                <a:latin typeface="Segoe UI"/>
              </a:rPr>
              <a:t>The product table was a module imported by the scanner page — readable in full from devtools, cost prices and suppliers included.</a:t>
            </a:r>
          </a:p>
          <a:p>
            <a:pPr algn="l">
              <a:lnSpc>
                <a:spcPct val="115000"/>
              </a:lnSpc>
              <a:spcAft>
                <a:spcPts val="900"/>
              </a:spcAft>
            </a:pPr>
            <a:r>
              <a:rPr sz="1350" b="1">
                <a:solidFill>
                  <a:srgbClr val="0F2A4A"/>
                </a:solidFill>
                <a:latin typeface="Segoe UI"/>
              </a:rPr>
              <a:t>Now it is server-only.  </a:t>
            </a:r>
          </a:p>
          <a:p>
            <a:pPr algn="l">
              <a:lnSpc>
                <a:spcPct val="115000"/>
              </a:lnSpc>
              <a:spcAft>
                <a:spcPts val="900"/>
              </a:spcAft>
            </a:pPr>
            <a:r>
              <a:rPr sz="1300" b="0">
                <a:solidFill>
                  <a:srgbClr val="4B5563"/>
                </a:solidFill>
                <a:latin typeface="Segoe UI"/>
              </a:rPr>
              <a:t>A build-time guarantee that it cannot be pulled back into client code, enforced by the compiler rather than by review.</a:t>
            </a:r>
          </a:p>
          <a:p>
            <a:pPr algn="l">
              <a:lnSpc>
                <a:spcPct val="115000"/>
              </a:lnSpc>
              <a:spcAft>
                <a:spcPts val="900"/>
              </a:spcAft>
            </a:pPr>
            <a:r>
              <a:rPr sz="1350" b="1">
                <a:solidFill>
                  <a:srgbClr val="0F2A4A"/>
                </a:solidFill>
                <a:latin typeface="Segoe UI"/>
              </a:rPr>
              <a:t>Six fields, allowlisted.  </a:t>
            </a:r>
          </a:p>
          <a:p>
            <a:pPr algn="l">
              <a:lnSpc>
                <a:spcPct val="115000"/>
              </a:lnSpc>
              <a:spcAft>
                <a:spcPts val="900"/>
              </a:spcAft>
            </a:pPr>
            <a:r>
              <a:rPr sz="1300" b="0">
                <a:solidFill>
                  <a:srgbClr val="4B5563"/>
                </a:solidFill>
                <a:latin typeface="Segoe UI"/>
              </a:rPr>
              <a:t>Everything a customer receives passes through one projection that copies six fields by name. Cost, margin, supplier, stock, SKU and purchase history have no path out.</a:t>
            </a:r>
          </a:p>
          <a:p>
            <a:pPr algn="l">
              <a:lnSpc>
                <a:spcPct val="115000"/>
              </a:lnSpc>
              <a:spcAft>
                <a:spcPts val="900"/>
              </a:spcAft>
            </a:pPr>
            <a:r>
              <a:rPr sz="1350" b="1">
                <a:solidFill>
                  <a:srgbClr val="0F2A4A"/>
                </a:solidFill>
                <a:latin typeface="Segoe UI"/>
              </a:rPr>
              <a:t>No bulk export.  </a:t>
            </a:r>
          </a:p>
          <a:p>
            <a:pPr algn="l">
              <a:lnSpc>
                <a:spcPct val="115000"/>
              </a:lnSpc>
              <a:spcAft>
                <a:spcPts val="900"/>
              </a:spcAft>
            </a:pPr>
            <a:r>
              <a:rPr sz="1300" b="0">
                <a:solidFill>
                  <a:srgbClr val="4B5563"/>
                </a:solidFill>
                <a:latin typeface="Segoe UI"/>
              </a:rPr>
              <a:t>Page size is hard-capped and there is no list-everything endpoint, so the catalogue cannot be reassembled by paging.</a:t>
            </a:r>
          </a:p>
        </p:txBody>
      </p:sp>
      <p:sp>
        <p:nvSpPr>
          <p:cNvPr id="8" name="Rectangle 7"/>
          <p:cNvSpPr/>
          <p:nvPr/>
        </p:nvSpPr>
        <p:spPr>
          <a:xfrm>
            <a:off x="6492240" y="1737360"/>
            <a:ext cx="5138928" cy="2286000"/>
          </a:xfrm>
          <a:prstGeom prst="rect">
            <a:avLst/>
          </a:prstGeom>
          <a:solidFill>
            <a:srgbClr val="0B1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56832" y="1847088"/>
            <a:ext cx="4809744" cy="2066544"/>
          </a:xfrm>
          <a:prstGeom prst="rect">
            <a:avLst/>
          </a:prstGeom>
          <a:noFill/>
        </p:spPr>
        <p:txBody>
          <a:bodyPr wrap="square" lIns="0" rIns="0" tIns="0" bIns="0">
            <a:spAutoFit/>
          </a:bodyPr>
          <a:lstStyle/>
          <a:p>
            <a:pPr>
              <a:spcAft>
                <a:spcPts val="200"/>
              </a:spcAft>
            </a:pPr>
            <a:r>
              <a:rPr sz="1300">
                <a:solidFill>
                  <a:srgbClr val="7FC8AC"/>
                </a:solidFill>
                <a:latin typeface="Consolas"/>
              </a:rPr>
              <a:t>// what a customer can ever see</a:t>
            </a:r>
          </a:p>
          <a:p>
            <a:pPr>
              <a:spcAft>
                <a:spcPts val="200"/>
              </a:spcAft>
            </a:pPr>
            <a:r>
              <a:rPr sz="1300">
                <a:solidFill>
                  <a:srgbClr val="FFFFFF"/>
                </a:solidFill>
                <a:latin typeface="Consolas"/>
              </a:rPr>
              <a:t>{</a:t>
            </a:r>
          </a:p>
          <a:p>
            <a:pPr>
              <a:spcAft>
                <a:spcPts val="200"/>
              </a:spcAft>
            </a:pPr>
            <a:r>
              <a:rPr sz="1300">
                <a:solidFill>
                  <a:srgbClr val="FFFFFF"/>
                </a:solidFill>
                <a:latin typeface="Consolas"/>
              </a:rPr>
              <a:t>  id, barcode, name,</a:t>
            </a:r>
          </a:p>
          <a:p>
            <a:pPr>
              <a:spcAft>
                <a:spcPts val="200"/>
              </a:spcAft>
            </a:pPr>
            <a:r>
              <a:rPr sz="1300">
                <a:solidFill>
                  <a:srgbClr val="FFFFFF"/>
                </a:solidFill>
                <a:latin typeface="Consolas"/>
              </a:rPr>
              <a:t>  unit_price,</a:t>
            </a:r>
          </a:p>
          <a:p>
            <a:pPr>
              <a:spcAft>
                <a:spcPts val="200"/>
              </a:spcAft>
            </a:pPr>
            <a:r>
              <a:rPr sz="1300">
                <a:solidFill>
                  <a:srgbClr val="FFFFFF"/>
                </a:solidFill>
                <a:latin typeface="Consolas"/>
              </a:rPr>
              <a:t>  image_url,</a:t>
            </a:r>
          </a:p>
          <a:p>
            <a:pPr>
              <a:spcAft>
                <a:spcPts val="200"/>
              </a:spcAft>
            </a:pPr>
            <a:r>
              <a:rPr sz="1300">
                <a:solidFill>
                  <a:srgbClr val="FFFFFF"/>
                </a:solidFill>
                <a:latin typeface="Consolas"/>
              </a:rPr>
              <a:t>  expected_weight_grams</a:t>
            </a:r>
          </a:p>
          <a:p>
            <a:pPr>
              <a:spcAft>
                <a:spcPts val="200"/>
              </a:spcAft>
            </a:pPr>
            <a:r>
              <a:rPr sz="1300">
                <a:solidFill>
                  <a:srgbClr val="FFFFFF"/>
                </a:solidFill>
                <a:latin typeface="Consolas"/>
              </a:rPr>
              <a:t>}</a:t>
            </a:r>
          </a:p>
        </p:txBody>
      </p:sp>
      <p:sp>
        <p:nvSpPr>
          <p:cNvPr id="10" name="TextBox 9"/>
          <p:cNvSpPr txBox="1"/>
          <p:nvPr/>
        </p:nvSpPr>
        <p:spPr>
          <a:xfrm>
            <a:off x="6492240" y="4206240"/>
            <a:ext cx="5138928" cy="1280160"/>
          </a:xfrm>
          <a:prstGeom prst="rect">
            <a:avLst/>
          </a:prstGeom>
          <a:noFill/>
        </p:spPr>
        <p:txBody>
          <a:bodyPr wrap="square" anchor="t" lIns="0" rIns="0" tIns="0" bIns="0">
            <a:spAutoFit/>
          </a:bodyPr>
          <a:lstStyle/>
          <a:p>
            <a:pPr algn="l">
              <a:lnSpc>
                <a:spcPct val="112000"/>
              </a:lnSpc>
              <a:spcAft>
                <a:spcPts val="0"/>
              </a:spcAft>
            </a:pPr>
            <a:r>
              <a:rPr sz="1250" b="0">
                <a:solidFill>
                  <a:srgbClr val="4B5563"/>
                </a:solidFill>
                <a:latin typeface="Segoe UI"/>
              </a:rPr>
              <a:t>Store scoping is enforced, not assumed. The store id comes from the signed session, so a query parameter naming another branch is ignored rather than obeyed.</a:t>
            </a:r>
          </a:p>
        </p:txBody>
      </p:sp>
      <p:sp>
        <p:nvSpPr>
          <p:cNvPr id="11" name="TextBox 10"/>
          <p:cNvSpPr txBox="1"/>
          <p:nvPr/>
        </p:nvSpPr>
        <p:spPr>
          <a:xfrm>
            <a:off x="566928" y="6437376"/>
            <a:ext cx="7315200" cy="237744"/>
          </a:xfrm>
          <a:prstGeom prst="rect">
            <a:avLst/>
          </a:prstGeom>
          <a:noFill/>
        </p:spPr>
        <p:txBody>
          <a:bodyPr wrap="square" anchor="t" lIns="0" rIns="0" tIns="0" bIns="0">
            <a:spAutoFit/>
          </a:bodyPr>
          <a:lstStyle/>
          <a:p>
            <a:pPr algn="l">
              <a:lnSpc>
                <a:spcPct val="100000"/>
              </a:lnSpc>
              <a:spcAft>
                <a:spcPts val="0"/>
              </a:spcAft>
            </a:pPr>
            <a:r>
              <a:rPr sz="900" b="0">
                <a:solidFill>
                  <a:srgbClr val="6B7280"/>
                </a:solidFill>
                <a:latin typeface="Segoe UI"/>
              </a:rPr>
              <a:t>SnapUp — scan-and-pay retail checkout</a:t>
            </a:r>
          </a:p>
        </p:txBody>
      </p:sp>
      <p:sp>
        <p:nvSpPr>
          <p:cNvPr id="12" name="TextBox 11"/>
          <p:cNvSpPr txBox="1"/>
          <p:nvPr/>
        </p:nvSpPr>
        <p:spPr>
          <a:xfrm>
            <a:off x="11002975" y="6437376"/>
            <a:ext cx="640080" cy="237744"/>
          </a:xfrm>
          <a:prstGeom prst="rect">
            <a:avLst/>
          </a:prstGeom>
          <a:noFill/>
        </p:spPr>
        <p:txBody>
          <a:bodyPr wrap="square" anchor="t" lIns="0" rIns="0" tIns="0" bIns="0">
            <a:spAutoFit/>
          </a:bodyPr>
          <a:lstStyle/>
          <a:p>
            <a:pPr algn="r">
              <a:lnSpc>
                <a:spcPct val="100000"/>
              </a:lnSpc>
              <a:spcAft>
                <a:spcPts val="0"/>
              </a:spcAft>
            </a:pPr>
            <a:r>
              <a:rPr sz="900" b="0">
                <a:solidFill>
                  <a:srgbClr val="6B7280"/>
                </a:solidFill>
                <a:latin typeface="Segoe U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45720"/>
          </a:xfrm>
          <a:prstGeom prst="rect">
            <a:avLst/>
          </a:prstGeom>
          <a:solidFill>
            <a:srgbClr val="1B7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82880"/>
            <a:ext cx="10058400" cy="256032"/>
          </a:xfrm>
          <a:prstGeom prst="rect">
            <a:avLst/>
          </a:prstGeom>
          <a:noFill/>
        </p:spPr>
        <p:txBody>
          <a:bodyPr wrap="square" anchor="t" lIns="0" rIns="0" tIns="0" bIns="0">
            <a:spAutoFit/>
          </a:bodyPr>
          <a:lstStyle/>
          <a:p>
            <a:pPr algn="l">
              <a:lnSpc>
                <a:spcPct val="100000"/>
              </a:lnSpc>
              <a:spcAft>
                <a:spcPts val="0"/>
              </a:spcAft>
            </a:pPr>
            <a:r>
              <a:rPr sz="1050" b="1">
                <a:solidFill>
                  <a:srgbClr val="7FC8AC"/>
                </a:solidFill>
                <a:latin typeface="Segoe UI"/>
              </a:rPr>
              <a:t>THE CHECKOUT STATE MACHINE</a:t>
            </a:r>
          </a:p>
        </p:txBody>
      </p:sp>
      <p:sp>
        <p:nvSpPr>
          <p:cNvPr id="6" name="TextBox 5"/>
          <p:cNvSpPr txBox="1"/>
          <p:nvPr/>
        </p:nvSpPr>
        <p:spPr>
          <a:xfrm>
            <a:off x="566928" y="438912"/>
            <a:ext cx="11064240" cy="502920"/>
          </a:xfrm>
          <a:prstGeom prst="rect">
            <a:avLst/>
          </a:prstGeom>
          <a:noFill/>
        </p:spPr>
        <p:txBody>
          <a:bodyPr wrap="square" anchor="t" lIns="0" rIns="0" tIns="0" bIns="0">
            <a:spAutoFit/>
          </a:bodyPr>
          <a:lstStyle/>
          <a:p>
            <a:pPr algn="l">
              <a:lnSpc>
                <a:spcPct val="100000"/>
              </a:lnSpc>
              <a:spcAft>
                <a:spcPts val="0"/>
              </a:spcAft>
            </a:pPr>
            <a:r>
              <a:rPr sz="2500" b="1">
                <a:solidFill>
                  <a:srgbClr val="FFFFFF"/>
                </a:solidFill>
                <a:latin typeface="Segoe UI"/>
              </a:rPr>
              <a:t>Nothing is final until staff approve</a:t>
            </a:r>
          </a:p>
        </p:txBody>
      </p:sp>
      <p:sp>
        <p:nvSpPr>
          <p:cNvPr id="7" name="Rectangle 6"/>
          <p:cNvSpPr/>
          <p:nvPr/>
        </p:nvSpPr>
        <p:spPr>
          <a:xfrm>
            <a:off x="566928" y="1600200"/>
            <a:ext cx="2487168" cy="12801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600200"/>
            <a:ext cx="2487168" cy="64008"/>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1847088"/>
            <a:ext cx="2194560" cy="914400"/>
          </a:xfrm>
          <a:prstGeom prst="rect">
            <a:avLst/>
          </a:prstGeom>
          <a:noFill/>
        </p:spPr>
        <p:txBody>
          <a:bodyPr wrap="square" anchor="t" lIns="0" rIns="0" tIns="0" bIns="0">
            <a:spAutoFit/>
          </a:bodyPr>
          <a:lstStyle/>
          <a:p>
            <a:pPr algn="ctr">
              <a:lnSpc>
                <a:spcPct val="105000"/>
              </a:lnSpc>
              <a:spcAft>
                <a:spcPts val="300"/>
              </a:spcAft>
            </a:pPr>
            <a:r>
              <a:rPr sz="1150" b="1">
                <a:solidFill>
                  <a:srgbClr val="0F2A4A"/>
                </a:solidFill>
                <a:latin typeface="Segoe UI"/>
              </a:rPr>
              <a:t>CART</a:t>
            </a:r>
          </a:p>
          <a:p>
            <a:pPr algn="ctr">
              <a:lnSpc>
                <a:spcPct val="105000"/>
              </a:lnSpc>
              <a:spcAft>
                <a:spcPts val="300"/>
              </a:spcAft>
            </a:pPr>
            <a:r>
              <a:rPr sz="1050" b="0">
                <a:solidFill>
                  <a:srgbClr val="6B7280"/>
                </a:solidFill>
                <a:latin typeface="Segoe UI"/>
              </a:rPr>
              <a:t>scanning</a:t>
            </a:r>
          </a:p>
        </p:txBody>
      </p:sp>
      <p:sp>
        <p:nvSpPr>
          <p:cNvPr id="10" name="TextBox 9"/>
          <p:cNvSpPr txBox="1"/>
          <p:nvPr/>
        </p:nvSpPr>
        <p:spPr>
          <a:xfrm>
            <a:off x="3072384" y="2084831"/>
            <a:ext cx="384048" cy="365760"/>
          </a:xfrm>
          <a:prstGeom prst="rect">
            <a:avLst/>
          </a:prstGeom>
          <a:noFill/>
        </p:spPr>
        <p:txBody>
          <a:bodyPr wrap="square" anchor="t" lIns="0" rIns="0" tIns="0" bIns="0">
            <a:spAutoFit/>
          </a:bodyPr>
          <a:lstStyle/>
          <a:p>
            <a:pPr algn="ctr">
              <a:lnSpc>
                <a:spcPct val="100000"/>
              </a:lnSpc>
              <a:spcAft>
                <a:spcPts val="0"/>
              </a:spcAft>
            </a:pPr>
            <a:r>
              <a:rPr sz="1900" b="1">
                <a:solidFill>
                  <a:srgbClr val="1B7F5A"/>
                </a:solidFill>
                <a:latin typeface="Segoe UI"/>
              </a:rPr>
              <a:t>→</a:t>
            </a:r>
          </a:p>
        </p:txBody>
      </p:sp>
      <p:sp>
        <p:nvSpPr>
          <p:cNvPr id="11" name="Rectangle 10"/>
          <p:cNvSpPr/>
          <p:nvPr/>
        </p:nvSpPr>
        <p:spPr>
          <a:xfrm>
            <a:off x="3456432" y="1600200"/>
            <a:ext cx="2487168" cy="12801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456432" y="1600200"/>
            <a:ext cx="2487168" cy="64008"/>
          </a:xfrm>
          <a:prstGeom prst="rect">
            <a:avLst/>
          </a:prstGeom>
          <a:solidFill>
            <a:srgbClr val="6B72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621024" y="1847088"/>
            <a:ext cx="2194560" cy="914400"/>
          </a:xfrm>
          <a:prstGeom prst="rect">
            <a:avLst/>
          </a:prstGeom>
          <a:noFill/>
        </p:spPr>
        <p:txBody>
          <a:bodyPr wrap="square" anchor="t" lIns="0" rIns="0" tIns="0" bIns="0">
            <a:spAutoFit/>
          </a:bodyPr>
          <a:lstStyle/>
          <a:p>
            <a:pPr algn="ctr">
              <a:lnSpc>
                <a:spcPct val="105000"/>
              </a:lnSpc>
              <a:spcAft>
                <a:spcPts val="300"/>
              </a:spcAft>
            </a:pPr>
            <a:r>
              <a:rPr sz="1150" b="1">
                <a:solidFill>
                  <a:srgbClr val="0F2A4A"/>
                </a:solidFill>
                <a:latin typeface="Segoe UI"/>
              </a:rPr>
              <a:t>PAYMENT_PENDING</a:t>
            </a:r>
          </a:p>
          <a:p>
            <a:pPr algn="ctr">
              <a:lnSpc>
                <a:spcPct val="105000"/>
              </a:lnSpc>
              <a:spcAft>
                <a:spcPts val="300"/>
              </a:spcAft>
            </a:pPr>
            <a:r>
              <a:rPr sz="1050" b="0">
                <a:solidFill>
                  <a:srgbClr val="6B7280"/>
                </a:solidFill>
                <a:latin typeface="Segoe UI"/>
              </a:rPr>
              <a:t>at the gateway</a:t>
            </a:r>
          </a:p>
        </p:txBody>
      </p:sp>
      <p:sp>
        <p:nvSpPr>
          <p:cNvPr id="14" name="TextBox 13"/>
          <p:cNvSpPr txBox="1"/>
          <p:nvPr/>
        </p:nvSpPr>
        <p:spPr>
          <a:xfrm>
            <a:off x="5961888" y="2084831"/>
            <a:ext cx="384048" cy="365760"/>
          </a:xfrm>
          <a:prstGeom prst="rect">
            <a:avLst/>
          </a:prstGeom>
          <a:noFill/>
        </p:spPr>
        <p:txBody>
          <a:bodyPr wrap="square" anchor="t" lIns="0" rIns="0" tIns="0" bIns="0">
            <a:spAutoFit/>
          </a:bodyPr>
          <a:lstStyle/>
          <a:p>
            <a:pPr algn="ctr">
              <a:lnSpc>
                <a:spcPct val="100000"/>
              </a:lnSpc>
              <a:spcAft>
                <a:spcPts val="0"/>
              </a:spcAft>
            </a:pPr>
            <a:r>
              <a:rPr sz="1900" b="1">
                <a:solidFill>
                  <a:srgbClr val="1B7F5A"/>
                </a:solidFill>
                <a:latin typeface="Segoe UI"/>
              </a:rPr>
              <a:t>→</a:t>
            </a:r>
          </a:p>
        </p:txBody>
      </p:sp>
      <p:sp>
        <p:nvSpPr>
          <p:cNvPr id="15" name="Rectangle 14"/>
          <p:cNvSpPr/>
          <p:nvPr/>
        </p:nvSpPr>
        <p:spPr>
          <a:xfrm>
            <a:off x="6345936" y="1600200"/>
            <a:ext cx="2487168" cy="12801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45936" y="1600200"/>
            <a:ext cx="2487168" cy="6400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10528" y="1847088"/>
            <a:ext cx="2194560" cy="914400"/>
          </a:xfrm>
          <a:prstGeom prst="rect">
            <a:avLst/>
          </a:prstGeom>
          <a:noFill/>
        </p:spPr>
        <p:txBody>
          <a:bodyPr wrap="square" anchor="t" lIns="0" rIns="0" tIns="0" bIns="0">
            <a:spAutoFit/>
          </a:bodyPr>
          <a:lstStyle/>
          <a:p>
            <a:pPr algn="ctr">
              <a:lnSpc>
                <a:spcPct val="105000"/>
              </a:lnSpc>
              <a:spcAft>
                <a:spcPts val="300"/>
              </a:spcAft>
            </a:pPr>
            <a:r>
              <a:rPr sz="1150" b="1">
                <a:solidFill>
                  <a:srgbClr val="0F2A4A"/>
                </a:solidFill>
                <a:latin typeface="Segoe UI"/>
              </a:rPr>
              <a:t>PAYMENT_RECEIVED</a:t>
            </a:r>
          </a:p>
          <a:p>
            <a:pPr algn="ctr">
              <a:lnSpc>
                <a:spcPct val="105000"/>
              </a:lnSpc>
              <a:spcAft>
                <a:spcPts val="300"/>
              </a:spcAft>
            </a:pPr>
            <a:r>
              <a:rPr sz="1150" b="1">
                <a:solidFill>
                  <a:srgbClr val="0F2A4A"/>
                </a:solidFill>
                <a:latin typeface="Segoe UI"/>
              </a:rPr>
              <a:t>_PENDING_STAFF</a:t>
            </a:r>
          </a:p>
          <a:p>
            <a:pPr algn="ctr">
              <a:lnSpc>
                <a:spcPct val="105000"/>
              </a:lnSpc>
              <a:spcAft>
                <a:spcPts val="300"/>
              </a:spcAft>
            </a:pPr>
            <a:r>
              <a:rPr sz="1050" b="0">
                <a:solidFill>
                  <a:srgbClr val="6B7280"/>
                </a:solidFill>
                <a:latin typeface="Segoe UI"/>
              </a:rPr>
              <a:t>money in, nothing else</a:t>
            </a:r>
          </a:p>
        </p:txBody>
      </p:sp>
      <p:sp>
        <p:nvSpPr>
          <p:cNvPr id="18" name="TextBox 17"/>
          <p:cNvSpPr txBox="1"/>
          <p:nvPr/>
        </p:nvSpPr>
        <p:spPr>
          <a:xfrm>
            <a:off x="8851392" y="2084831"/>
            <a:ext cx="384048" cy="365760"/>
          </a:xfrm>
          <a:prstGeom prst="rect">
            <a:avLst/>
          </a:prstGeom>
          <a:noFill/>
        </p:spPr>
        <p:txBody>
          <a:bodyPr wrap="square" anchor="t" lIns="0" rIns="0" tIns="0" bIns="0">
            <a:spAutoFit/>
          </a:bodyPr>
          <a:lstStyle/>
          <a:p>
            <a:pPr algn="ctr">
              <a:lnSpc>
                <a:spcPct val="100000"/>
              </a:lnSpc>
              <a:spcAft>
                <a:spcPts val="0"/>
              </a:spcAft>
            </a:pPr>
            <a:r>
              <a:rPr sz="1900" b="1">
                <a:solidFill>
                  <a:srgbClr val="1B7F5A"/>
                </a:solidFill>
                <a:latin typeface="Segoe UI"/>
              </a:rPr>
              <a:t>→</a:t>
            </a:r>
          </a:p>
        </p:txBody>
      </p:sp>
      <p:sp>
        <p:nvSpPr>
          <p:cNvPr id="19" name="Rectangle 18"/>
          <p:cNvSpPr/>
          <p:nvPr/>
        </p:nvSpPr>
        <p:spPr>
          <a:xfrm>
            <a:off x="9235440" y="1600200"/>
            <a:ext cx="2487168" cy="128016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9235440" y="1600200"/>
            <a:ext cx="2487168" cy="64008"/>
          </a:xfrm>
          <a:prstGeom prst="rect">
            <a:avLst/>
          </a:prstGeom>
          <a:solidFill>
            <a:srgbClr val="1B7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400032" y="1847088"/>
            <a:ext cx="2194560" cy="914400"/>
          </a:xfrm>
          <a:prstGeom prst="rect">
            <a:avLst/>
          </a:prstGeom>
          <a:noFill/>
        </p:spPr>
        <p:txBody>
          <a:bodyPr wrap="square" anchor="t" lIns="0" rIns="0" tIns="0" bIns="0">
            <a:spAutoFit/>
          </a:bodyPr>
          <a:lstStyle/>
          <a:p>
            <a:pPr algn="ctr">
              <a:lnSpc>
                <a:spcPct val="105000"/>
              </a:lnSpc>
              <a:spcAft>
                <a:spcPts val="300"/>
              </a:spcAft>
            </a:pPr>
            <a:r>
              <a:rPr sz="1150" b="1">
                <a:solidFill>
                  <a:srgbClr val="0F2A4A"/>
                </a:solidFill>
                <a:latin typeface="Segoe UI"/>
              </a:rPr>
              <a:t>APPROVED</a:t>
            </a:r>
          </a:p>
          <a:p>
            <a:pPr algn="ctr">
              <a:lnSpc>
                <a:spcPct val="105000"/>
              </a:lnSpc>
              <a:spcAft>
                <a:spcPts val="300"/>
              </a:spcAft>
            </a:pPr>
            <a:r>
              <a:rPr sz="1150" b="1">
                <a:solidFill>
                  <a:srgbClr val="0F2A4A"/>
                </a:solidFill>
                <a:latin typeface="Segoe UI"/>
              </a:rPr>
              <a:t>_COMPLETED</a:t>
            </a:r>
          </a:p>
          <a:p>
            <a:pPr algn="ctr">
              <a:lnSpc>
                <a:spcPct val="105000"/>
              </a:lnSpc>
              <a:spcAft>
                <a:spcPts val="300"/>
              </a:spcAft>
            </a:pPr>
            <a:r>
              <a:rPr sz="1050" b="0">
                <a:solidFill>
                  <a:srgbClr val="6B7280"/>
                </a:solidFill>
                <a:latin typeface="Segoe UI"/>
              </a:rPr>
              <a:t>bill + stock move</a:t>
            </a:r>
          </a:p>
        </p:txBody>
      </p:sp>
      <p:sp>
        <p:nvSpPr>
          <p:cNvPr id="22" name="TextBox 21"/>
          <p:cNvSpPr txBox="1"/>
          <p:nvPr/>
        </p:nvSpPr>
        <p:spPr>
          <a:xfrm>
            <a:off x="566928" y="3200400"/>
            <a:ext cx="11064240" cy="4114800"/>
          </a:xfrm>
          <a:prstGeom prst="rect">
            <a:avLst/>
          </a:prstGeom>
          <a:noFill/>
        </p:spPr>
        <p:txBody>
          <a:bodyPr wrap="square" anchor="t" lIns="0" rIns="0" tIns="0" bIns="0">
            <a:spAutoFit/>
          </a:bodyPr>
          <a:lstStyle/>
          <a:p>
            <a:pPr algn="l">
              <a:lnSpc>
                <a:spcPct val="115000"/>
              </a:lnSpc>
              <a:spcAft>
                <a:spcPts val="1000"/>
              </a:spcAft>
            </a:pPr>
            <a:r>
              <a:rPr sz="1350" b="1">
                <a:solidFill>
                  <a:srgbClr val="0F2A4A"/>
                </a:solidFill>
                <a:latin typeface="Segoe UI"/>
              </a:rPr>
              <a:t>Payment success creates a pending record and nothing else.  </a:t>
            </a:r>
          </a:p>
          <a:p>
            <a:pPr algn="l">
              <a:lnSpc>
                <a:spcPct val="115000"/>
              </a:lnSpc>
              <a:spcAft>
                <a:spcPts val="1000"/>
              </a:spcAft>
            </a:pPr>
            <a:r>
              <a:rPr sz="1300" b="0">
                <a:solidFill>
                  <a:srgbClr val="4B5563"/>
                </a:solidFill>
                <a:latin typeface="Segoe UI"/>
              </a:rPr>
              <a:t>No bill number, no bill-history row, no inventory movement. The customer sees a waiting-for-staff screen, never a receipt.</a:t>
            </a:r>
          </a:p>
          <a:p>
            <a:pPr algn="l">
              <a:lnSpc>
                <a:spcPct val="115000"/>
              </a:lnSpc>
              <a:spcAft>
                <a:spcPts val="1000"/>
              </a:spcAft>
            </a:pPr>
            <a:r>
              <a:rPr sz="1350" b="1">
                <a:solidFill>
                  <a:srgbClr val="0F2A4A"/>
                </a:solidFill>
                <a:latin typeface="Segoe UI"/>
              </a:rPr>
              <a:t>Only the staff acknowledgement completes the sale.  </a:t>
            </a:r>
          </a:p>
          <a:p>
            <a:pPr algn="l">
              <a:lnSpc>
                <a:spcPct val="115000"/>
              </a:lnSpc>
              <a:spcAft>
                <a:spcPts val="1000"/>
              </a:spcAft>
            </a:pPr>
            <a:r>
              <a:rPr sz="1300" b="0">
                <a:solidFill>
                  <a:srgbClr val="4B5563"/>
                </a:solidFill>
                <a:latin typeface="Segoe UI"/>
              </a:rPr>
              <a:t>It validates stock, reduces it, marks the order approved and releases the bill — in one statement, so there is no state in which half of that is true.</a:t>
            </a:r>
          </a:p>
          <a:p>
            <a:pPr algn="l">
              <a:lnSpc>
                <a:spcPct val="115000"/>
              </a:lnSpc>
              <a:spcAft>
                <a:spcPts val="1000"/>
              </a:spcAft>
            </a:pPr>
            <a:r>
              <a:rPr sz="1350" b="1">
                <a:solidFill>
                  <a:srgbClr val="0F2A4A"/>
                </a:solidFill>
                <a:latin typeface="Segoe UI"/>
              </a:rPr>
              <a:t>A refusal leaves nothing behind.  </a:t>
            </a:r>
          </a:p>
          <a:p>
            <a:pPr algn="l">
              <a:lnSpc>
                <a:spcPct val="115000"/>
              </a:lnSpc>
              <a:spcAft>
                <a:spcPts val="1000"/>
              </a:spcAft>
            </a:pPr>
            <a:r>
              <a:rPr sz="1300" b="0">
                <a:solidFill>
                  <a:srgbClr val="4B5563"/>
                </a:solidFill>
                <a:latin typeface="Segoe UI"/>
              </a:rPr>
              <a:t>Staff rejection, payment failure or an expired session produce no bill and no deduction. The pending record is kept, with its outcome and reason, for audit.</a:t>
            </a:r>
          </a:p>
        </p:txBody>
      </p:sp>
      <p:sp>
        <p:nvSpPr>
          <p:cNvPr id="23" name="TextBox 22"/>
          <p:cNvSpPr txBox="1"/>
          <p:nvPr/>
        </p:nvSpPr>
        <p:spPr>
          <a:xfrm>
            <a:off x="566928" y="6437376"/>
            <a:ext cx="7315200" cy="237744"/>
          </a:xfrm>
          <a:prstGeom prst="rect">
            <a:avLst/>
          </a:prstGeom>
          <a:noFill/>
        </p:spPr>
        <p:txBody>
          <a:bodyPr wrap="square" anchor="t" lIns="0" rIns="0" tIns="0" bIns="0">
            <a:spAutoFit/>
          </a:bodyPr>
          <a:lstStyle/>
          <a:p>
            <a:pPr algn="l">
              <a:lnSpc>
                <a:spcPct val="100000"/>
              </a:lnSpc>
              <a:spcAft>
                <a:spcPts val="0"/>
              </a:spcAft>
            </a:pPr>
            <a:r>
              <a:rPr sz="900" b="0">
                <a:solidFill>
                  <a:srgbClr val="6B7280"/>
                </a:solidFill>
                <a:latin typeface="Segoe UI"/>
              </a:rPr>
              <a:t>SnapUp — scan-and-pay retail checkout</a:t>
            </a:r>
          </a:p>
        </p:txBody>
      </p:sp>
      <p:sp>
        <p:nvSpPr>
          <p:cNvPr id="24" name="TextBox 23"/>
          <p:cNvSpPr txBox="1"/>
          <p:nvPr/>
        </p:nvSpPr>
        <p:spPr>
          <a:xfrm>
            <a:off x="11002975" y="6437376"/>
            <a:ext cx="640080" cy="237744"/>
          </a:xfrm>
          <a:prstGeom prst="rect">
            <a:avLst/>
          </a:prstGeom>
          <a:noFill/>
        </p:spPr>
        <p:txBody>
          <a:bodyPr wrap="square" anchor="t" lIns="0" rIns="0" tIns="0" bIns="0">
            <a:spAutoFit/>
          </a:bodyPr>
          <a:lstStyle/>
          <a:p>
            <a:pPr algn="r">
              <a:lnSpc>
                <a:spcPct val="100000"/>
              </a:lnSpc>
              <a:spcAft>
                <a:spcPts val="0"/>
              </a:spcAft>
            </a:pPr>
            <a:r>
              <a:rPr sz="900" b="0">
                <a:solidFill>
                  <a:srgbClr val="6B7280"/>
                </a:solidFill>
                <a:latin typeface="Segoe U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45720"/>
          </a:xfrm>
          <a:prstGeom prst="rect">
            <a:avLst/>
          </a:prstGeom>
          <a:solidFill>
            <a:srgbClr val="1B7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82880"/>
            <a:ext cx="10058400" cy="256032"/>
          </a:xfrm>
          <a:prstGeom prst="rect">
            <a:avLst/>
          </a:prstGeom>
          <a:noFill/>
        </p:spPr>
        <p:txBody>
          <a:bodyPr wrap="square" anchor="t" lIns="0" rIns="0" tIns="0" bIns="0">
            <a:spAutoFit/>
          </a:bodyPr>
          <a:lstStyle/>
          <a:p>
            <a:pPr algn="l">
              <a:lnSpc>
                <a:spcPct val="100000"/>
              </a:lnSpc>
              <a:spcAft>
                <a:spcPts val="0"/>
              </a:spcAft>
            </a:pPr>
            <a:r>
              <a:rPr sz="1050" b="1">
                <a:solidFill>
                  <a:srgbClr val="7FC8AC"/>
                </a:solidFill>
                <a:latin typeface="Segoe UI"/>
              </a:rPr>
              <a:t>INVENTORY</a:t>
            </a:r>
          </a:p>
        </p:txBody>
      </p:sp>
      <p:sp>
        <p:nvSpPr>
          <p:cNvPr id="6" name="TextBox 5"/>
          <p:cNvSpPr txBox="1"/>
          <p:nvPr/>
        </p:nvSpPr>
        <p:spPr>
          <a:xfrm>
            <a:off x="566928" y="438912"/>
            <a:ext cx="11064240" cy="502920"/>
          </a:xfrm>
          <a:prstGeom prst="rect">
            <a:avLst/>
          </a:prstGeom>
          <a:noFill/>
        </p:spPr>
        <p:txBody>
          <a:bodyPr wrap="square" anchor="t" lIns="0" rIns="0" tIns="0" bIns="0">
            <a:spAutoFit/>
          </a:bodyPr>
          <a:lstStyle/>
          <a:p>
            <a:pPr algn="l">
              <a:lnSpc>
                <a:spcPct val="100000"/>
              </a:lnSpc>
              <a:spcAft>
                <a:spcPts val="0"/>
              </a:spcAft>
            </a:pPr>
            <a:r>
              <a:rPr sz="2500" b="1">
                <a:solidFill>
                  <a:srgbClr val="FFFFFF"/>
                </a:solidFill>
                <a:latin typeface="Segoe UI"/>
              </a:rPr>
              <a:t>Stock moves once, and only at approval</a:t>
            </a:r>
          </a:p>
        </p:txBody>
      </p:sp>
      <p:sp>
        <p:nvSpPr>
          <p:cNvPr id="7" name="TextBox 6"/>
          <p:cNvSpPr txBox="1"/>
          <p:nvPr/>
        </p:nvSpPr>
        <p:spPr>
          <a:xfrm>
            <a:off x="566928" y="1463040"/>
            <a:ext cx="11064240" cy="365760"/>
          </a:xfrm>
          <a:prstGeom prst="rect">
            <a:avLst/>
          </a:prstGeom>
          <a:noFill/>
        </p:spPr>
        <p:txBody>
          <a:bodyPr wrap="square" anchor="t" lIns="0" rIns="0" tIns="0" bIns="0">
            <a:spAutoFit/>
          </a:bodyPr>
          <a:lstStyle/>
          <a:p>
            <a:pPr algn="l">
              <a:lnSpc>
                <a:spcPct val="100000"/>
              </a:lnSpc>
              <a:spcAft>
                <a:spcPts val="1000"/>
              </a:spcAft>
            </a:pPr>
            <a:r>
              <a:rPr sz="1400" b="0">
                <a:solidFill>
                  <a:srgbClr val="4B5563"/>
                </a:solidFill>
                <a:latin typeface="Segoe UI"/>
              </a:rPr>
              <a:t>One statement validates, claims and deducts. Postgres decides the race, not the application.</a:t>
            </a:r>
          </a:p>
        </p:txBody>
      </p:sp>
      <p:sp>
        <p:nvSpPr>
          <p:cNvPr id="8" name="Rectangle 7"/>
          <p:cNvSpPr/>
          <p:nvPr/>
        </p:nvSpPr>
        <p:spPr>
          <a:xfrm>
            <a:off x="566928" y="1965960"/>
            <a:ext cx="6492240" cy="2395728"/>
          </a:xfrm>
          <a:prstGeom prst="rect">
            <a:avLst/>
          </a:prstGeom>
          <a:solidFill>
            <a:srgbClr val="0B1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31520" y="2075688"/>
            <a:ext cx="6163056" cy="2176272"/>
          </a:xfrm>
          <a:prstGeom prst="rect">
            <a:avLst/>
          </a:prstGeom>
          <a:noFill/>
        </p:spPr>
        <p:txBody>
          <a:bodyPr wrap="square" lIns="0" rIns="0" tIns="0" bIns="0">
            <a:spAutoFit/>
          </a:bodyPr>
          <a:lstStyle/>
          <a:p>
            <a:pPr>
              <a:spcAft>
                <a:spcPts val="200"/>
              </a:spcAft>
            </a:pPr>
            <a:r>
              <a:rPr sz="1200">
                <a:solidFill>
                  <a:srgbClr val="FFFFFF"/>
                </a:solidFill>
                <a:latin typeface="Consolas"/>
              </a:rPr>
              <a:t>WITH need   AS ( SELECT product_id, SUM(quantity) ... ),</a:t>
            </a:r>
          </a:p>
          <a:p>
            <a:pPr>
              <a:spcAft>
                <a:spcPts val="200"/>
              </a:spcAft>
            </a:pPr>
            <a:r>
              <a:rPr sz="1200">
                <a:solidFill>
                  <a:srgbClr val="F4A261"/>
                </a:solidFill>
                <a:latin typeface="Consolas"/>
              </a:rPr>
              <a:t>     short  AS ( SELECT ... WHERE stock_quantity &lt; qty ),</a:t>
            </a:r>
          </a:p>
          <a:p>
            <a:pPr>
              <a:spcAft>
                <a:spcPts val="200"/>
              </a:spcAft>
            </a:pPr>
            <a:r>
              <a:rPr sz="1200">
                <a:solidFill>
                  <a:srgbClr val="FFFFFF"/>
                </a:solidFill>
                <a:latin typeface="Consolas"/>
              </a:rPr>
              <a:t/>
            </a:r>
          </a:p>
          <a:p>
            <a:pPr>
              <a:spcAft>
                <a:spcPts val="200"/>
              </a:spcAft>
            </a:pPr>
            <a:r>
              <a:rPr sz="1200">
                <a:solidFill>
                  <a:srgbClr val="FFFFFF"/>
                </a:solidFill>
                <a:latin typeface="Consolas"/>
              </a:rPr>
              <a:t>     claim  AS ( UPDATE orders SET exit_approved_at = $2 ...</a:t>
            </a:r>
          </a:p>
          <a:p>
            <a:pPr>
              <a:spcAft>
                <a:spcPts val="200"/>
              </a:spcAft>
            </a:pPr>
            <a:r>
              <a:rPr sz="1200">
                <a:solidFill>
                  <a:srgbClr val="7FC8AC"/>
                </a:solidFill>
                <a:latin typeface="Consolas"/>
              </a:rPr>
              <a:t>                  WHERE exit_approved_at IS NULL</a:t>
            </a:r>
          </a:p>
          <a:p>
            <a:pPr>
              <a:spcAft>
                <a:spcPts val="200"/>
              </a:spcAft>
            </a:pPr>
            <a:r>
              <a:rPr sz="1200">
                <a:solidFill>
                  <a:srgbClr val="7FC8AC"/>
                </a:solidFill>
                <a:latin typeface="Consolas"/>
              </a:rPr>
              <a:t>                    AND NOT EXISTS (SELECT 1 FROM short) ),</a:t>
            </a:r>
          </a:p>
          <a:p>
            <a:pPr>
              <a:spcAft>
                <a:spcPts val="200"/>
              </a:spcAft>
            </a:pPr>
            <a:r>
              <a:rPr sz="1200">
                <a:solidFill>
                  <a:srgbClr val="FFFFFF"/>
                </a:solidFill>
                <a:latin typeface="Consolas"/>
              </a:rPr>
              <a:t/>
            </a:r>
          </a:p>
          <a:p>
            <a:pPr>
              <a:spcAft>
                <a:spcPts val="200"/>
              </a:spcAft>
            </a:pPr>
            <a:r>
              <a:rPr sz="1200">
                <a:solidFill>
                  <a:srgbClr val="FFFFFF"/>
                </a:solidFill>
                <a:latin typeface="Consolas"/>
              </a:rPr>
              <a:t>     deduct AS ( UPDATE products SET stock = stock - qty</a:t>
            </a:r>
          </a:p>
          <a:p>
            <a:pPr>
              <a:spcAft>
                <a:spcPts val="200"/>
              </a:spcAft>
            </a:pPr>
            <a:r>
              <a:rPr sz="1200">
                <a:solidFill>
                  <a:srgbClr val="7FC8AC"/>
                </a:solidFill>
                <a:latin typeface="Consolas"/>
              </a:rPr>
              <a:t>                  WHERE stock &gt;= qty</a:t>
            </a:r>
          </a:p>
          <a:p>
            <a:pPr>
              <a:spcAft>
                <a:spcPts val="200"/>
              </a:spcAft>
            </a:pPr>
            <a:r>
              <a:rPr sz="1200">
                <a:solidFill>
                  <a:srgbClr val="7FC8AC"/>
                </a:solidFill>
                <a:latin typeface="Consolas"/>
              </a:rPr>
              <a:t>                    AND EXISTS (SELECT 1 FROM claim) )</a:t>
            </a:r>
          </a:p>
        </p:txBody>
      </p:sp>
      <p:sp>
        <p:nvSpPr>
          <p:cNvPr id="10" name="TextBox 9"/>
          <p:cNvSpPr txBox="1"/>
          <p:nvPr/>
        </p:nvSpPr>
        <p:spPr>
          <a:xfrm>
            <a:off x="7315200" y="1965960"/>
            <a:ext cx="4343400" cy="4114800"/>
          </a:xfrm>
          <a:prstGeom prst="rect">
            <a:avLst/>
          </a:prstGeom>
          <a:noFill/>
        </p:spPr>
        <p:txBody>
          <a:bodyPr wrap="square" anchor="t" lIns="0" rIns="0" tIns="0" bIns="0">
            <a:spAutoFit/>
          </a:bodyPr>
          <a:lstStyle/>
          <a:p>
            <a:pPr algn="l">
              <a:lnSpc>
                <a:spcPct val="115000"/>
              </a:lnSpc>
              <a:spcAft>
                <a:spcPts val="900"/>
              </a:spcAft>
            </a:pPr>
            <a:r>
              <a:rPr sz="1250" b="0">
                <a:solidFill>
                  <a:srgbClr val="4B5563"/>
                </a:solidFill>
                <a:latin typeface="Segoe UI"/>
              </a:rPr>
              <a:t>•  exit_approved_at IS NULL is the idempotency guard — a second click claims nothing, so it deducts nothing.</a:t>
            </a:r>
          </a:p>
          <a:p>
            <a:pPr algn="l">
              <a:lnSpc>
                <a:spcPct val="115000"/>
              </a:lnSpc>
              <a:spcAft>
                <a:spcPts val="900"/>
              </a:spcAft>
            </a:pPr>
            <a:r>
              <a:rPr sz="1250" b="0">
                <a:solidFill>
                  <a:srgbClr val="4B5563"/>
                </a:solidFill>
                <a:latin typeface="Segoe UI"/>
              </a:rPr>
              <a:t>•  deduct only runs if claim produced a row. Approval and stock cannot come apart.</a:t>
            </a:r>
          </a:p>
          <a:p>
            <a:pPr algn="l">
              <a:lnSpc>
                <a:spcPct val="115000"/>
              </a:lnSpc>
              <a:spcAft>
                <a:spcPts val="900"/>
              </a:spcAft>
            </a:pPr>
            <a:r>
              <a:rPr sz="1250" b="0">
                <a:solidFill>
                  <a:srgbClr val="4B5563"/>
                </a:solidFill>
                <a:latin typeface="Segoe UI"/>
              </a:rPr>
              <a:t>•  If any line is short, claim finds a row in short, nothing runs, and the shortfall is handed back for staff to see.</a:t>
            </a:r>
          </a:p>
          <a:p>
            <a:pPr algn="l">
              <a:lnSpc>
                <a:spcPct val="115000"/>
              </a:lnSpc>
              <a:spcAft>
                <a:spcPts val="900"/>
              </a:spcAft>
            </a:pPr>
            <a:r>
              <a:rPr sz="1250" b="0">
                <a:solidFill>
                  <a:srgbClr val="4B5563"/>
                </a:solidFill>
                <a:latin typeface="Segoe UI"/>
              </a:rPr>
              <a:t>•  Stock is never touched by a scan, a cart edit, or a successful payment.</a:t>
            </a:r>
          </a:p>
        </p:txBody>
      </p:sp>
      <p:sp>
        <p:nvSpPr>
          <p:cNvPr id="11" name="TextBox 10"/>
          <p:cNvSpPr txBox="1"/>
          <p:nvPr/>
        </p:nvSpPr>
        <p:spPr>
          <a:xfrm>
            <a:off x="566928" y="6437376"/>
            <a:ext cx="7315200" cy="237744"/>
          </a:xfrm>
          <a:prstGeom prst="rect">
            <a:avLst/>
          </a:prstGeom>
          <a:noFill/>
        </p:spPr>
        <p:txBody>
          <a:bodyPr wrap="square" anchor="t" lIns="0" rIns="0" tIns="0" bIns="0">
            <a:spAutoFit/>
          </a:bodyPr>
          <a:lstStyle/>
          <a:p>
            <a:pPr algn="l">
              <a:lnSpc>
                <a:spcPct val="100000"/>
              </a:lnSpc>
              <a:spcAft>
                <a:spcPts val="0"/>
              </a:spcAft>
            </a:pPr>
            <a:r>
              <a:rPr sz="900" b="0">
                <a:solidFill>
                  <a:srgbClr val="6B7280"/>
                </a:solidFill>
                <a:latin typeface="Segoe UI"/>
              </a:rPr>
              <a:t>SnapUp — scan-and-pay retail checkout</a:t>
            </a:r>
          </a:p>
        </p:txBody>
      </p:sp>
      <p:sp>
        <p:nvSpPr>
          <p:cNvPr id="12" name="TextBox 11"/>
          <p:cNvSpPr txBox="1"/>
          <p:nvPr/>
        </p:nvSpPr>
        <p:spPr>
          <a:xfrm>
            <a:off x="11002975" y="6437376"/>
            <a:ext cx="640080" cy="237744"/>
          </a:xfrm>
          <a:prstGeom prst="rect">
            <a:avLst/>
          </a:prstGeom>
          <a:noFill/>
        </p:spPr>
        <p:txBody>
          <a:bodyPr wrap="square" anchor="t" lIns="0" rIns="0" tIns="0" bIns="0">
            <a:spAutoFit/>
          </a:bodyPr>
          <a:lstStyle/>
          <a:p>
            <a:pPr algn="r">
              <a:lnSpc>
                <a:spcPct val="100000"/>
              </a:lnSpc>
              <a:spcAft>
                <a:spcPts val="0"/>
              </a:spcAft>
            </a:pPr>
            <a:r>
              <a:rPr sz="900" b="0">
                <a:solidFill>
                  <a:srgbClr val="6B7280"/>
                </a:solidFill>
                <a:latin typeface="Segoe U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45720"/>
          </a:xfrm>
          <a:prstGeom prst="rect">
            <a:avLst/>
          </a:prstGeom>
          <a:solidFill>
            <a:srgbClr val="1B7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82880"/>
            <a:ext cx="10058400" cy="256032"/>
          </a:xfrm>
          <a:prstGeom prst="rect">
            <a:avLst/>
          </a:prstGeom>
          <a:noFill/>
        </p:spPr>
        <p:txBody>
          <a:bodyPr wrap="square" anchor="t" lIns="0" rIns="0" tIns="0" bIns="0">
            <a:spAutoFit/>
          </a:bodyPr>
          <a:lstStyle/>
          <a:p>
            <a:pPr algn="l">
              <a:lnSpc>
                <a:spcPct val="100000"/>
              </a:lnSpc>
              <a:spcAft>
                <a:spcPts val="0"/>
              </a:spcAft>
            </a:pPr>
            <a:r>
              <a:rPr sz="1050" b="1">
                <a:solidFill>
                  <a:srgbClr val="7FC8AC"/>
                </a:solidFill>
                <a:latin typeface="Segoe UI"/>
              </a:rPr>
              <a:t>IDEMPOTENCY</a:t>
            </a:r>
          </a:p>
        </p:txBody>
      </p:sp>
      <p:sp>
        <p:nvSpPr>
          <p:cNvPr id="6" name="TextBox 5"/>
          <p:cNvSpPr txBox="1"/>
          <p:nvPr/>
        </p:nvSpPr>
        <p:spPr>
          <a:xfrm>
            <a:off x="566928" y="438912"/>
            <a:ext cx="11064240" cy="502920"/>
          </a:xfrm>
          <a:prstGeom prst="rect">
            <a:avLst/>
          </a:prstGeom>
          <a:noFill/>
        </p:spPr>
        <p:txBody>
          <a:bodyPr wrap="square" anchor="t" lIns="0" rIns="0" tIns="0" bIns="0">
            <a:spAutoFit/>
          </a:bodyPr>
          <a:lstStyle/>
          <a:p>
            <a:pPr algn="l">
              <a:lnSpc>
                <a:spcPct val="100000"/>
              </a:lnSpc>
              <a:spcAft>
                <a:spcPts val="0"/>
              </a:spcAft>
            </a:pPr>
            <a:r>
              <a:rPr sz="2500" b="1">
                <a:solidFill>
                  <a:srgbClr val="FFFFFF"/>
                </a:solidFill>
                <a:latin typeface="Segoe UI"/>
              </a:rPr>
              <a:t>One payment, one bill, one deduction</a:t>
            </a:r>
          </a:p>
        </p:txBody>
      </p:sp>
      <p:sp>
        <p:nvSpPr>
          <p:cNvPr id="7" name="TextBox 6"/>
          <p:cNvSpPr txBox="1"/>
          <p:nvPr/>
        </p:nvSpPr>
        <p:spPr>
          <a:xfrm>
            <a:off x="566928" y="1463040"/>
            <a:ext cx="11064240" cy="457200"/>
          </a:xfrm>
          <a:prstGeom prst="rect">
            <a:avLst/>
          </a:prstGeom>
          <a:noFill/>
        </p:spPr>
        <p:txBody>
          <a:bodyPr wrap="square" anchor="t" lIns="0" rIns="0" tIns="0" bIns="0">
            <a:spAutoFit/>
          </a:bodyPr>
          <a:lstStyle/>
          <a:p>
            <a:pPr algn="l">
              <a:lnSpc>
                <a:spcPct val="115000"/>
              </a:lnSpc>
              <a:spcAft>
                <a:spcPts val="1200"/>
              </a:spcAft>
            </a:pPr>
            <a:r>
              <a:rPr sz="1400" b="0">
                <a:solidFill>
                  <a:srgbClr val="4B5563"/>
                </a:solidFill>
                <a:latin typeface="Segoe UI"/>
              </a:rPr>
              <a:t>A duplicate webhook, a refreshed page and a staff double-click must all produce the same single outcome. None of that is enforced by checking first.</a:t>
            </a:r>
          </a:p>
        </p:txBody>
      </p:sp>
      <p:sp>
        <p:nvSpPr>
          <p:cNvPr id="8" name="Rectangle 7"/>
          <p:cNvSpPr/>
          <p:nvPr/>
        </p:nvSpPr>
        <p:spPr>
          <a:xfrm>
            <a:off x="566928" y="2148840"/>
            <a:ext cx="5486400" cy="1371600"/>
          </a:xfrm>
          <a:prstGeom prst="rect">
            <a:avLst/>
          </a:prstGeom>
          <a:solidFill>
            <a:srgbClr val="FDEF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2148840"/>
            <a:ext cx="54864" cy="1371600"/>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340864"/>
            <a:ext cx="4937760" cy="1005840"/>
          </a:xfrm>
          <a:prstGeom prst="rect">
            <a:avLst/>
          </a:prstGeom>
          <a:noFill/>
        </p:spPr>
        <p:txBody>
          <a:bodyPr wrap="square" anchor="t" lIns="0" rIns="0" tIns="0" bIns="0">
            <a:spAutoFit/>
          </a:bodyPr>
          <a:lstStyle/>
          <a:p>
            <a:pPr algn="l">
              <a:lnSpc>
                <a:spcPct val="112000"/>
              </a:lnSpc>
              <a:spcAft>
                <a:spcPts val="500"/>
              </a:spcAft>
            </a:pPr>
            <a:r>
              <a:rPr sz="1400" b="1">
                <a:solidFill>
                  <a:srgbClr val="B91C1C"/>
                </a:solidFill>
                <a:latin typeface="Segoe UI"/>
              </a:rPr>
              <a:t>Check, then write</a:t>
            </a:r>
          </a:p>
          <a:p>
            <a:pPr algn="l">
              <a:lnSpc>
                <a:spcPct val="112000"/>
              </a:lnSpc>
              <a:spcAft>
                <a:spcPts val="500"/>
              </a:spcAft>
            </a:pPr>
            <a:r>
              <a:rPr sz="1250" b="0">
                <a:solidFill>
                  <a:srgbClr val="4B5563"/>
                </a:solidFill>
                <a:latin typeface="Segoe UI"/>
              </a:rPr>
              <a:t>Two webhook deliveries on two instances both read "no bill yet", both pass, both write. The window is real and it is wide.</a:t>
            </a:r>
          </a:p>
        </p:txBody>
      </p:sp>
      <p:sp>
        <p:nvSpPr>
          <p:cNvPr id="11" name="Rectangle 10"/>
          <p:cNvSpPr/>
          <p:nvPr/>
        </p:nvSpPr>
        <p:spPr>
          <a:xfrm>
            <a:off x="6309360" y="2148840"/>
            <a:ext cx="5321808" cy="1371600"/>
          </a:xfrm>
          <a:prstGeom prst="rect">
            <a:avLst/>
          </a:prstGeom>
          <a:solidFill>
            <a:srgbClr val="EC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6309360" y="2148840"/>
            <a:ext cx="54864" cy="1371600"/>
          </a:xfrm>
          <a:prstGeom prst="rect">
            <a:avLst/>
          </a:prstGeom>
          <a:solidFill>
            <a:srgbClr val="1B7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611112" y="2340864"/>
            <a:ext cx="4754880" cy="1005840"/>
          </a:xfrm>
          <a:prstGeom prst="rect">
            <a:avLst/>
          </a:prstGeom>
          <a:noFill/>
        </p:spPr>
        <p:txBody>
          <a:bodyPr wrap="square" anchor="t" lIns="0" rIns="0" tIns="0" bIns="0">
            <a:spAutoFit/>
          </a:bodyPr>
          <a:lstStyle/>
          <a:p>
            <a:pPr algn="l">
              <a:lnSpc>
                <a:spcPct val="112000"/>
              </a:lnSpc>
              <a:spcAft>
                <a:spcPts val="500"/>
              </a:spcAft>
            </a:pPr>
            <a:r>
              <a:rPr sz="1400" b="1">
                <a:solidFill>
                  <a:srgbClr val="1B7F5A"/>
                </a:solidFill>
                <a:latin typeface="Segoe UI"/>
              </a:rPr>
              <a:t>Let the database refuse</a:t>
            </a:r>
          </a:p>
          <a:p>
            <a:pPr algn="l">
              <a:lnSpc>
                <a:spcPct val="112000"/>
              </a:lnSpc>
              <a:spcAft>
                <a:spcPts val="500"/>
              </a:spcAft>
            </a:pPr>
            <a:r>
              <a:rPr sz="1250" b="0">
                <a:solidFill>
                  <a:srgbClr val="4B5563"/>
                </a:solidFill>
                <a:latin typeface="Segoe UI"/>
              </a:rPr>
              <a:t>Unique indexes on bill_number, (gateway, gateway_payment_id) and idempotency_key. The second write loses, every time.</a:t>
            </a:r>
          </a:p>
        </p:txBody>
      </p:sp>
      <p:sp>
        <p:nvSpPr>
          <p:cNvPr id="14" name="TextBox 13"/>
          <p:cNvSpPr txBox="1"/>
          <p:nvPr/>
        </p:nvSpPr>
        <p:spPr>
          <a:xfrm>
            <a:off x="566928" y="3794760"/>
            <a:ext cx="11064240" cy="4114800"/>
          </a:xfrm>
          <a:prstGeom prst="rect">
            <a:avLst/>
          </a:prstGeom>
          <a:noFill/>
        </p:spPr>
        <p:txBody>
          <a:bodyPr wrap="square" anchor="t" lIns="0" rIns="0" tIns="0" bIns="0">
            <a:spAutoFit/>
          </a:bodyPr>
          <a:lstStyle/>
          <a:p>
            <a:pPr algn="l">
              <a:lnSpc>
                <a:spcPct val="115000"/>
              </a:lnSpc>
              <a:spcAft>
                <a:spcPts val="900"/>
              </a:spcAft>
            </a:pPr>
            <a:r>
              <a:rPr sz="1300" b="1">
                <a:solidFill>
                  <a:srgbClr val="0F2A4A"/>
                </a:solidFill>
                <a:latin typeface="Segoe UI"/>
              </a:rPr>
              <a:t>The webhook is the only route that can mark a basket paid.  </a:t>
            </a:r>
          </a:p>
          <a:p>
            <a:pPr algn="l">
              <a:lnSpc>
                <a:spcPct val="115000"/>
              </a:lnSpc>
              <a:spcAft>
                <a:spcPts val="900"/>
              </a:spcAft>
            </a:pPr>
            <a:r>
              <a:rPr sz="1250" b="0">
                <a:solidFill>
                  <a:srgbClr val="4B5563"/>
                </a:solidFill>
                <a:latin typeface="Segoe UI"/>
              </a:rPr>
              <a:t>It verifies an HMAC over the raw request body before reading a single field. The customer app cannot mark anything paid — it asks, and is told to wait.</a:t>
            </a:r>
          </a:p>
          <a:p>
            <a:pPr algn="l">
              <a:lnSpc>
                <a:spcPct val="115000"/>
              </a:lnSpc>
              <a:spcAft>
                <a:spcPts val="900"/>
              </a:spcAft>
            </a:pPr>
            <a:r>
              <a:rPr sz="1300" b="1">
                <a:solidFill>
                  <a:srgbClr val="0F2A4A"/>
                </a:solidFill>
                <a:latin typeface="Segoe UI"/>
              </a:rPr>
              <a:t>A bad signature gets 200, not 401.  </a:t>
            </a:r>
          </a:p>
          <a:p>
            <a:pPr algn="l">
              <a:lnSpc>
                <a:spcPct val="115000"/>
              </a:lnSpc>
              <a:spcAft>
                <a:spcPts val="900"/>
              </a:spcAft>
            </a:pPr>
            <a:r>
              <a:rPr sz="1250" b="0">
                <a:solidFill>
                  <a:srgbClr val="4B5563"/>
                </a:solidFill>
                <a:latin typeface="Segoe UI"/>
              </a:rPr>
              <a:t>Gateways retry non-2xx for days; a 401 would ask an attacker's forged webhook to be replayed at us on a schedule. It is dropped and logged. A verified event that fails to record does return 500 — there a retry is what we want.</a:t>
            </a:r>
          </a:p>
          <a:p>
            <a:pPr algn="l">
              <a:lnSpc>
                <a:spcPct val="115000"/>
              </a:lnSpc>
              <a:spcAft>
                <a:spcPts val="900"/>
              </a:spcAft>
            </a:pPr>
            <a:r>
              <a:rPr sz="1300" b="1">
                <a:solidFill>
                  <a:srgbClr val="0F2A4A"/>
                </a:solidFill>
                <a:latin typeface="Segoe UI"/>
              </a:rPr>
              <a:t>Amounts are re-checked against our own total.  </a:t>
            </a:r>
          </a:p>
          <a:p>
            <a:pPr algn="l">
              <a:lnSpc>
                <a:spcPct val="115000"/>
              </a:lnSpc>
              <a:spcAft>
                <a:spcPts val="900"/>
              </a:spcAft>
            </a:pPr>
            <a:r>
              <a:rPr sz="1250" b="0">
                <a:solidFill>
                  <a:srgbClr val="4B5563"/>
                </a:solidFill>
                <a:latin typeface="Segoe UI"/>
              </a:rPr>
              <a:t>A gateway reporting less than the basket is a partial capture or a tampered notification. The order is left alone and the mismatch recorded.</a:t>
            </a:r>
          </a:p>
        </p:txBody>
      </p:sp>
      <p:sp>
        <p:nvSpPr>
          <p:cNvPr id="15" name="TextBox 14"/>
          <p:cNvSpPr txBox="1"/>
          <p:nvPr/>
        </p:nvSpPr>
        <p:spPr>
          <a:xfrm>
            <a:off x="566928" y="6437376"/>
            <a:ext cx="7315200" cy="237744"/>
          </a:xfrm>
          <a:prstGeom prst="rect">
            <a:avLst/>
          </a:prstGeom>
          <a:noFill/>
        </p:spPr>
        <p:txBody>
          <a:bodyPr wrap="square" anchor="t" lIns="0" rIns="0" tIns="0" bIns="0">
            <a:spAutoFit/>
          </a:bodyPr>
          <a:lstStyle/>
          <a:p>
            <a:pPr algn="l">
              <a:lnSpc>
                <a:spcPct val="100000"/>
              </a:lnSpc>
              <a:spcAft>
                <a:spcPts val="0"/>
              </a:spcAft>
            </a:pPr>
            <a:r>
              <a:rPr sz="900" b="0">
                <a:solidFill>
                  <a:srgbClr val="6B7280"/>
                </a:solidFill>
                <a:latin typeface="Segoe UI"/>
              </a:rPr>
              <a:t>SnapUp — scan-and-pay retail checkout</a:t>
            </a:r>
          </a:p>
        </p:txBody>
      </p:sp>
      <p:sp>
        <p:nvSpPr>
          <p:cNvPr id="16" name="TextBox 15"/>
          <p:cNvSpPr txBox="1"/>
          <p:nvPr/>
        </p:nvSpPr>
        <p:spPr>
          <a:xfrm>
            <a:off x="11002975" y="6437376"/>
            <a:ext cx="640080" cy="237744"/>
          </a:xfrm>
          <a:prstGeom prst="rect">
            <a:avLst/>
          </a:prstGeom>
          <a:noFill/>
        </p:spPr>
        <p:txBody>
          <a:bodyPr wrap="square" anchor="t" lIns="0" rIns="0" tIns="0" bIns="0">
            <a:spAutoFit/>
          </a:bodyPr>
          <a:lstStyle/>
          <a:p>
            <a:pPr algn="r">
              <a:lnSpc>
                <a:spcPct val="100000"/>
              </a:lnSpc>
              <a:spcAft>
                <a:spcPts val="0"/>
              </a:spcAft>
            </a:pPr>
            <a:r>
              <a:rPr sz="900" b="0">
                <a:solidFill>
                  <a:srgbClr val="6B7280"/>
                </a:solidFill>
                <a:latin typeface="Segoe U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45720"/>
          </a:xfrm>
          <a:prstGeom prst="rect">
            <a:avLst/>
          </a:prstGeom>
          <a:solidFill>
            <a:srgbClr val="1B7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82880"/>
            <a:ext cx="10058400" cy="256032"/>
          </a:xfrm>
          <a:prstGeom prst="rect">
            <a:avLst/>
          </a:prstGeom>
          <a:noFill/>
        </p:spPr>
        <p:txBody>
          <a:bodyPr wrap="square" anchor="t" lIns="0" rIns="0" tIns="0" bIns="0">
            <a:spAutoFit/>
          </a:bodyPr>
          <a:lstStyle/>
          <a:p>
            <a:pPr algn="l">
              <a:lnSpc>
                <a:spcPct val="100000"/>
              </a:lnSpc>
              <a:spcAft>
                <a:spcPts val="0"/>
              </a:spcAft>
            </a:pPr>
            <a:r>
              <a:rPr sz="1050" b="1">
                <a:solidFill>
                  <a:srgbClr val="7FC8AC"/>
                </a:solidFill>
                <a:latin typeface="Segoe UI"/>
              </a:rPr>
              <a:t>SECTION 7</a:t>
            </a:r>
          </a:p>
        </p:txBody>
      </p:sp>
      <p:sp>
        <p:nvSpPr>
          <p:cNvPr id="6" name="TextBox 5"/>
          <p:cNvSpPr txBox="1"/>
          <p:nvPr/>
        </p:nvSpPr>
        <p:spPr>
          <a:xfrm>
            <a:off x="566928" y="438912"/>
            <a:ext cx="11064240" cy="502920"/>
          </a:xfrm>
          <a:prstGeom prst="rect">
            <a:avLst/>
          </a:prstGeom>
          <a:noFill/>
        </p:spPr>
        <p:txBody>
          <a:bodyPr wrap="square" anchor="t" lIns="0" rIns="0" tIns="0" bIns="0">
            <a:spAutoFit/>
          </a:bodyPr>
          <a:lstStyle/>
          <a:p>
            <a:pPr algn="l">
              <a:lnSpc>
                <a:spcPct val="100000"/>
              </a:lnSpc>
              <a:spcAft>
                <a:spcPts val="0"/>
              </a:spcAft>
            </a:pPr>
            <a:r>
              <a:rPr sz="2500" b="1">
                <a:solidFill>
                  <a:srgbClr val="FFFFFF"/>
                </a:solidFill>
                <a:latin typeface="Segoe UI"/>
              </a:rPr>
              <a:t>Keeping the shop's original database in step</a:t>
            </a:r>
          </a:p>
        </p:txBody>
      </p:sp>
      <p:sp>
        <p:nvSpPr>
          <p:cNvPr id="7" name="TextBox 6"/>
          <p:cNvSpPr txBox="1"/>
          <p:nvPr/>
        </p:nvSpPr>
        <p:spPr>
          <a:xfrm>
            <a:off x="566928" y="1481328"/>
            <a:ext cx="5577840" cy="4114800"/>
          </a:xfrm>
          <a:prstGeom prst="rect">
            <a:avLst/>
          </a:prstGeom>
          <a:noFill/>
        </p:spPr>
        <p:txBody>
          <a:bodyPr wrap="square" anchor="t" lIns="0" rIns="0" tIns="0" bIns="0">
            <a:spAutoFit/>
          </a:bodyPr>
          <a:lstStyle/>
          <a:p>
            <a:pPr algn="l">
              <a:lnSpc>
                <a:spcPct val="115000"/>
              </a:lnSpc>
              <a:spcAft>
                <a:spcPts val="900"/>
              </a:spcAft>
            </a:pPr>
            <a:r>
              <a:rPr sz="1300" b="1">
                <a:solidFill>
                  <a:srgbClr val="0F2A4A"/>
                </a:solidFill>
                <a:latin typeface="Segoe UI"/>
              </a:rPr>
              <a:t>An append-only outbox.  </a:t>
            </a:r>
          </a:p>
          <a:p>
            <a:pPr algn="l">
              <a:lnSpc>
                <a:spcPct val="115000"/>
              </a:lnSpc>
              <a:spcAft>
                <a:spcPts val="900"/>
              </a:spcAft>
            </a:pPr>
            <a:r>
              <a:rPr sz="1250" b="0">
                <a:solidFill>
                  <a:srgbClr val="4B5563"/>
                </a:solidFill>
                <a:latin typeface="Segoe UI"/>
              </a:rPr>
              <a:t>Every approved sale and stock import writes an event. The half-hourly job reads it, applies each event, and marks it synced only after the original confirms the write.</a:t>
            </a:r>
          </a:p>
          <a:p>
            <a:pPr algn="l">
              <a:lnSpc>
                <a:spcPct val="115000"/>
              </a:lnSpc>
              <a:spcAft>
                <a:spcPts val="900"/>
              </a:spcAft>
            </a:pPr>
            <a:r>
              <a:rPr sz="1300" b="1">
                <a:solidFill>
                  <a:srgbClr val="0F2A4A"/>
                </a:solidFill>
                <a:latin typeface="Segoe UI"/>
              </a:rPr>
              <a:t>Deltas, never absolute counts.  </a:t>
            </a:r>
          </a:p>
          <a:p>
            <a:pPr algn="l">
              <a:lnSpc>
                <a:spcPct val="115000"/>
              </a:lnSpc>
              <a:spcAft>
                <a:spcPts val="900"/>
              </a:spcAft>
            </a:pPr>
            <a:r>
              <a:rPr sz="1250" b="0">
                <a:solidFill>
                  <a:srgbClr val="4B5563"/>
                </a:solidFill>
                <a:latin typeface="Segoe UI"/>
              </a:rPr>
              <a:t>Events carry delta: -2, not available_qty: 14. Writing our count over theirs would discard every sale their own till made since the last run — the brief's "never overwrite newer data", as arithmetic rather than as a comparison somebody has to get right.</a:t>
            </a:r>
          </a:p>
          <a:p>
            <a:pPr algn="l">
              <a:lnSpc>
                <a:spcPct val="115000"/>
              </a:lnSpc>
              <a:spcAft>
                <a:spcPts val="900"/>
              </a:spcAft>
            </a:pPr>
            <a:r>
              <a:rPr sz="1300" b="1">
                <a:solidFill>
                  <a:srgbClr val="0F2A4A"/>
                </a:solidFill>
                <a:latin typeface="Segoe UI"/>
              </a:rPr>
              <a:t>One SKU per event.  </a:t>
            </a:r>
          </a:p>
          <a:p>
            <a:pPr algn="l">
              <a:lnSpc>
                <a:spcPct val="115000"/>
              </a:lnSpc>
              <a:spcAft>
                <a:spcPts val="900"/>
              </a:spcAft>
            </a:pPr>
            <a:r>
              <a:rPr sz="1250" b="0">
                <a:solidFill>
                  <a:srgbClr val="4B5563"/>
                </a:solidFill>
                <a:latin typeface="Segoe UI"/>
              </a:rPr>
              <a:t>So discharging an event is a single statement, and a failure part-way through a sale cannot leave some lines applied and replay them on retry.</a:t>
            </a:r>
          </a:p>
        </p:txBody>
      </p:sp>
      <p:sp>
        <p:nvSpPr>
          <p:cNvPr id="8" name="Rectangle 7"/>
          <p:cNvSpPr/>
          <p:nvPr/>
        </p:nvSpPr>
        <p:spPr>
          <a:xfrm>
            <a:off x="6492240" y="1572768"/>
            <a:ext cx="5138928" cy="3931920"/>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12280" y="1810512"/>
            <a:ext cx="4572000" cy="3566160"/>
          </a:xfrm>
          <a:prstGeom prst="rect">
            <a:avLst/>
          </a:prstGeom>
          <a:noFill/>
        </p:spPr>
        <p:txBody>
          <a:bodyPr wrap="square" anchor="t" lIns="0" rIns="0" tIns="0" bIns="0">
            <a:spAutoFit/>
          </a:bodyPr>
          <a:lstStyle/>
          <a:p>
            <a:pPr algn="l">
              <a:lnSpc>
                <a:spcPct val="112000"/>
              </a:lnSpc>
              <a:spcAft>
                <a:spcPts val="900"/>
              </a:spcAft>
            </a:pPr>
            <a:r>
              <a:rPr sz="1450" b="1">
                <a:solidFill>
                  <a:srgbClr val="0F2A4A"/>
                </a:solidFill>
                <a:latin typeface="Segoe UI"/>
              </a:rPr>
              <a:t>What is deliberately not guessed</a:t>
            </a:r>
          </a:p>
          <a:p>
            <a:pPr algn="l">
              <a:lnSpc>
                <a:spcPct val="112000"/>
              </a:lnSpc>
              <a:spcAft>
                <a:spcPts val="900"/>
              </a:spcAft>
            </a:pPr>
            <a:r>
              <a:rPr sz="1250" b="1">
                <a:solidFill>
                  <a:srgbClr val="0F2A4A"/>
                </a:solidFill>
                <a:latin typeface="Segoe UI"/>
              </a:rPr>
              <a:t>This job writes to somebody else's production database.</a:t>
            </a:r>
          </a:p>
          <a:p>
            <a:pPr algn="l">
              <a:lnSpc>
                <a:spcPct val="112000"/>
              </a:lnSpc>
              <a:spcAft>
                <a:spcPts val="900"/>
              </a:spcAft>
            </a:pPr>
            <a:r>
              <a:rPr sz="1250" b="0">
                <a:solidFill>
                  <a:srgbClr val="4B5563"/>
                </a:solidFill>
                <a:latin typeface="Segoe UI"/>
              </a:rPr>
              <a:t>The connection string, the inventory table, its SKU and quantity columns, and the conflict policy are all configuration with no defaults.</a:t>
            </a:r>
          </a:p>
          <a:p>
            <a:pPr algn="l">
              <a:lnSpc>
                <a:spcPct val="112000"/>
              </a:lnSpc>
              <a:spcAft>
                <a:spcPts val="900"/>
              </a:spcAft>
            </a:pPr>
            <a:r>
              <a:rPr sz="1250" b="0">
                <a:solidFill>
                  <a:srgbClr val="4B5563"/>
                </a:solidFill>
                <a:latin typeface="Segoe UI"/>
              </a:rPr>
              <a:t>A guessed column name does not fail cleanly — it either errors after a partial write, or updates a column that exists and means something else.</a:t>
            </a:r>
          </a:p>
          <a:p>
            <a:pPr algn="l">
              <a:lnSpc>
                <a:spcPct val="112000"/>
              </a:lnSpc>
              <a:spcAft>
                <a:spcPts val="900"/>
              </a:spcAft>
            </a:pPr>
            <a:r>
              <a:rPr sz="1250" b="0">
                <a:solidFill>
                  <a:srgbClr val="4B5563"/>
                </a:solidFill>
                <a:latin typeface="Segoe UI"/>
              </a:rPr>
              <a:t>So the absence of that configuration is a refusal, not a fallback. The outbox keeps accumulating and nothing is lost by waiting.</a:t>
            </a:r>
          </a:p>
        </p:txBody>
      </p:sp>
      <p:sp>
        <p:nvSpPr>
          <p:cNvPr id="10" name="TextBox 9"/>
          <p:cNvSpPr txBox="1"/>
          <p:nvPr/>
        </p:nvSpPr>
        <p:spPr>
          <a:xfrm>
            <a:off x="566928" y="6437376"/>
            <a:ext cx="7315200" cy="237744"/>
          </a:xfrm>
          <a:prstGeom prst="rect">
            <a:avLst/>
          </a:prstGeom>
          <a:noFill/>
        </p:spPr>
        <p:txBody>
          <a:bodyPr wrap="square" anchor="t" lIns="0" rIns="0" tIns="0" bIns="0">
            <a:spAutoFit/>
          </a:bodyPr>
          <a:lstStyle/>
          <a:p>
            <a:pPr algn="l">
              <a:lnSpc>
                <a:spcPct val="100000"/>
              </a:lnSpc>
              <a:spcAft>
                <a:spcPts val="0"/>
              </a:spcAft>
            </a:pPr>
            <a:r>
              <a:rPr sz="900" b="0">
                <a:solidFill>
                  <a:srgbClr val="6B7280"/>
                </a:solidFill>
                <a:latin typeface="Segoe UI"/>
              </a:rPr>
              <a:t>SnapUp — scan-and-pay retail checkout</a:t>
            </a:r>
          </a:p>
        </p:txBody>
      </p:sp>
      <p:sp>
        <p:nvSpPr>
          <p:cNvPr id="11" name="TextBox 10"/>
          <p:cNvSpPr txBox="1"/>
          <p:nvPr/>
        </p:nvSpPr>
        <p:spPr>
          <a:xfrm>
            <a:off x="11002975" y="6437376"/>
            <a:ext cx="640080" cy="237744"/>
          </a:xfrm>
          <a:prstGeom prst="rect">
            <a:avLst/>
          </a:prstGeom>
          <a:noFill/>
        </p:spPr>
        <p:txBody>
          <a:bodyPr wrap="square" anchor="t" lIns="0" rIns="0" tIns="0" bIns="0">
            <a:spAutoFit/>
          </a:bodyPr>
          <a:lstStyle/>
          <a:p>
            <a:pPr algn="r">
              <a:lnSpc>
                <a:spcPct val="100000"/>
              </a:lnSpc>
              <a:spcAft>
                <a:spcPts val="0"/>
              </a:spcAft>
            </a:pPr>
            <a:r>
              <a:rPr sz="900" b="0">
                <a:solidFill>
                  <a:srgbClr val="6B7280"/>
                </a:solidFill>
                <a:latin typeface="Segoe U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45720"/>
          </a:xfrm>
          <a:prstGeom prst="rect">
            <a:avLst/>
          </a:prstGeom>
          <a:solidFill>
            <a:srgbClr val="1B7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82880"/>
            <a:ext cx="10058400" cy="256032"/>
          </a:xfrm>
          <a:prstGeom prst="rect">
            <a:avLst/>
          </a:prstGeom>
          <a:noFill/>
        </p:spPr>
        <p:txBody>
          <a:bodyPr wrap="square" anchor="t" lIns="0" rIns="0" tIns="0" bIns="0">
            <a:spAutoFit/>
          </a:bodyPr>
          <a:lstStyle/>
          <a:p>
            <a:pPr algn="l">
              <a:lnSpc>
                <a:spcPct val="100000"/>
              </a:lnSpc>
              <a:spcAft>
                <a:spcPts val="0"/>
              </a:spcAft>
            </a:pPr>
            <a:r>
              <a:rPr sz="1050" b="1">
                <a:solidFill>
                  <a:srgbClr val="7FC8AC"/>
                </a:solidFill>
                <a:latin typeface="Segoe UI"/>
              </a:rPr>
              <a:t>ENGINEERING</a:t>
            </a:r>
          </a:p>
        </p:txBody>
      </p:sp>
      <p:sp>
        <p:nvSpPr>
          <p:cNvPr id="6" name="TextBox 5"/>
          <p:cNvSpPr txBox="1"/>
          <p:nvPr/>
        </p:nvSpPr>
        <p:spPr>
          <a:xfrm>
            <a:off x="566928" y="438912"/>
            <a:ext cx="11064240" cy="502920"/>
          </a:xfrm>
          <a:prstGeom prst="rect">
            <a:avLst/>
          </a:prstGeom>
          <a:noFill/>
        </p:spPr>
        <p:txBody>
          <a:bodyPr wrap="square" anchor="t" lIns="0" rIns="0" tIns="0" bIns="0">
            <a:spAutoFit/>
          </a:bodyPr>
          <a:lstStyle/>
          <a:p>
            <a:pPr algn="l">
              <a:lnSpc>
                <a:spcPct val="100000"/>
              </a:lnSpc>
              <a:spcAft>
                <a:spcPts val="0"/>
              </a:spcAft>
            </a:pPr>
            <a:r>
              <a:rPr sz="2500" b="1">
                <a:solidFill>
                  <a:srgbClr val="FFFFFF"/>
                </a:solidFill>
                <a:latin typeface="Segoe UI"/>
              </a:rPr>
              <a:t>Five defects found by audit, and fixed</a:t>
            </a:r>
          </a:p>
        </p:txBody>
      </p:sp>
      <p:sp>
        <p:nvSpPr>
          <p:cNvPr id="7" name="Rectangle 6"/>
          <p:cNvSpPr/>
          <p:nvPr/>
        </p:nvSpPr>
        <p:spPr>
          <a:xfrm>
            <a:off x="566928" y="1481328"/>
            <a:ext cx="11064240" cy="859536"/>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566928" y="1481328"/>
            <a:ext cx="45720" cy="859536"/>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1591056"/>
            <a:ext cx="7772400" cy="685800"/>
          </a:xfrm>
          <a:prstGeom prst="rect">
            <a:avLst/>
          </a:prstGeom>
          <a:noFill/>
        </p:spPr>
        <p:txBody>
          <a:bodyPr wrap="square" anchor="t" lIns="0" rIns="0" tIns="0" bIns="0">
            <a:spAutoFit/>
          </a:bodyPr>
          <a:lstStyle/>
          <a:p>
            <a:pPr algn="l">
              <a:lnSpc>
                <a:spcPct val="108000"/>
              </a:lnSpc>
              <a:spcAft>
                <a:spcPts val="200"/>
              </a:spcAft>
            </a:pPr>
            <a:r>
              <a:rPr sz="1250" b="1">
                <a:solidFill>
                  <a:srgbClr val="0F2A4A"/>
                </a:solidFill>
                <a:latin typeface="Segoe UI"/>
              </a:rPr>
              <a:t>Imports destroyed stock counts</a:t>
            </a:r>
          </a:p>
          <a:p>
            <a:pPr algn="l">
              <a:lnSpc>
                <a:spcPct val="108000"/>
              </a:lnSpc>
              <a:spcAft>
                <a:spcPts val="200"/>
              </a:spcAft>
            </a:pPr>
            <a:r>
              <a:rPr sz="1050" b="0">
                <a:solidFill>
                  <a:srgbClr val="4B5563"/>
                </a:solidFill>
                <a:latin typeface="Segoe UI"/>
              </a:rPr>
              <a:t>Re-importing a sheet to fix one price reset every count on it, discarding every sale since export — and reported success. Now a sheet is a delivery that adds; --stock-take is the explicit mode for absolute counts.</a:t>
            </a:r>
          </a:p>
        </p:txBody>
      </p:sp>
      <p:sp>
        <p:nvSpPr>
          <p:cNvPr id="10" name="TextBox 9"/>
          <p:cNvSpPr txBox="1"/>
          <p:nvPr/>
        </p:nvSpPr>
        <p:spPr>
          <a:xfrm>
            <a:off x="8778240" y="1755648"/>
            <a:ext cx="2743200" cy="365760"/>
          </a:xfrm>
          <a:prstGeom prst="rect">
            <a:avLst/>
          </a:prstGeom>
          <a:noFill/>
        </p:spPr>
        <p:txBody>
          <a:bodyPr wrap="square" anchor="t" lIns="0" rIns="0" tIns="0" bIns="0">
            <a:spAutoFit/>
          </a:bodyPr>
          <a:lstStyle/>
          <a:p>
            <a:pPr algn="l">
              <a:lnSpc>
                <a:spcPct val="100000"/>
              </a:lnSpc>
              <a:spcAft>
                <a:spcPts val="0"/>
              </a:spcAft>
            </a:pPr>
            <a:r>
              <a:rPr sz="1050" b="1">
                <a:solidFill>
                  <a:srgbClr val="1B7F5A"/>
                </a:solidFill>
                <a:latin typeface="Segoe UI"/>
              </a:rPr>
              <a:t>0 → 40 → 80, not 40 → 40</a:t>
            </a:r>
          </a:p>
        </p:txBody>
      </p:sp>
      <p:sp>
        <p:nvSpPr>
          <p:cNvPr id="11" name="Rectangle 10"/>
          <p:cNvSpPr/>
          <p:nvPr/>
        </p:nvSpPr>
        <p:spPr>
          <a:xfrm>
            <a:off x="566928" y="2395728"/>
            <a:ext cx="11064240" cy="8595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395728"/>
            <a:ext cx="45720" cy="859536"/>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 y="2505456"/>
            <a:ext cx="7772400" cy="685800"/>
          </a:xfrm>
          <a:prstGeom prst="rect">
            <a:avLst/>
          </a:prstGeom>
          <a:noFill/>
        </p:spPr>
        <p:txBody>
          <a:bodyPr wrap="square" anchor="t" lIns="0" rIns="0" tIns="0" bIns="0">
            <a:spAutoFit/>
          </a:bodyPr>
          <a:lstStyle/>
          <a:p>
            <a:pPr algn="l">
              <a:lnSpc>
                <a:spcPct val="108000"/>
              </a:lnSpc>
              <a:spcAft>
                <a:spcPts val="200"/>
              </a:spcAft>
            </a:pPr>
            <a:r>
              <a:rPr sz="1250" b="1">
                <a:solidFill>
                  <a:srgbClr val="0F2A4A"/>
                </a:solidFill>
                <a:latin typeface="Segoe UI"/>
              </a:rPr>
              <a:t>Overlapping syncs applied every delta twice</a:t>
            </a:r>
          </a:p>
          <a:p>
            <a:pPr algn="l">
              <a:lnSpc>
                <a:spcPct val="108000"/>
              </a:lnSpc>
              <a:spcAft>
                <a:spcPts val="200"/>
              </a:spcAft>
            </a:pPr>
            <a:r>
              <a:rPr sz="1050" b="0">
                <a:solidFill>
                  <a:srgbClr val="4B5563"/>
                </a:solidFill>
                <a:latin typeface="Segoe UI"/>
              </a:rPr>
              <a:t>FOR UPDATE SKIP LOCKED did nothing: with no session, the lock died with the SELECT that took it. Runs now claim rows by writing the run id in the same statement that selects them.</a:t>
            </a:r>
          </a:p>
        </p:txBody>
      </p:sp>
      <p:sp>
        <p:nvSpPr>
          <p:cNvPr id="14" name="TextBox 13"/>
          <p:cNvSpPr txBox="1"/>
          <p:nvPr/>
        </p:nvSpPr>
        <p:spPr>
          <a:xfrm>
            <a:off x="8778240" y="2670048"/>
            <a:ext cx="2743200" cy="365760"/>
          </a:xfrm>
          <a:prstGeom prst="rect">
            <a:avLst/>
          </a:prstGeom>
          <a:noFill/>
        </p:spPr>
        <p:txBody>
          <a:bodyPr wrap="square" anchor="t" lIns="0" rIns="0" tIns="0" bIns="0">
            <a:spAutoFit/>
          </a:bodyPr>
          <a:lstStyle/>
          <a:p>
            <a:pPr algn="l">
              <a:lnSpc>
                <a:spcPct val="100000"/>
              </a:lnSpc>
              <a:spcAft>
                <a:spcPts val="0"/>
              </a:spcAft>
            </a:pPr>
            <a:r>
              <a:rPr sz="1050" b="1">
                <a:solidFill>
                  <a:srgbClr val="1B7F5A"/>
                </a:solidFill>
                <a:latin typeface="Segoe UI"/>
              </a:rPr>
              <a:t>A: 6, B: 0 — was A: 6, B: 6</a:t>
            </a:r>
          </a:p>
        </p:txBody>
      </p:sp>
      <p:sp>
        <p:nvSpPr>
          <p:cNvPr id="15" name="Rectangle 14"/>
          <p:cNvSpPr/>
          <p:nvPr/>
        </p:nvSpPr>
        <p:spPr>
          <a:xfrm>
            <a:off x="566928" y="3310128"/>
            <a:ext cx="11064240" cy="859536"/>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66928" y="3310128"/>
            <a:ext cx="45720" cy="859536"/>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 y="3419856"/>
            <a:ext cx="7772400" cy="685800"/>
          </a:xfrm>
          <a:prstGeom prst="rect">
            <a:avLst/>
          </a:prstGeom>
          <a:noFill/>
        </p:spPr>
        <p:txBody>
          <a:bodyPr wrap="square" anchor="t" lIns="0" rIns="0" tIns="0" bIns="0">
            <a:spAutoFit/>
          </a:bodyPr>
          <a:lstStyle/>
          <a:p>
            <a:pPr algn="l">
              <a:lnSpc>
                <a:spcPct val="108000"/>
              </a:lnSpc>
              <a:spcAft>
                <a:spcPts val="200"/>
              </a:spcAft>
            </a:pPr>
            <a:r>
              <a:rPr sz="1250" b="1">
                <a:solidFill>
                  <a:srgbClr val="0F2A4A"/>
                </a:solidFill>
                <a:latin typeface="Segoe UI"/>
              </a:rPr>
              <a:t>Partial replay on multi-line sales</a:t>
            </a:r>
          </a:p>
          <a:p>
            <a:pPr algn="l">
              <a:lnSpc>
                <a:spcPct val="108000"/>
              </a:lnSpc>
              <a:spcAft>
                <a:spcPts val="200"/>
              </a:spcAft>
            </a:pPr>
            <a:r>
              <a:rPr sz="1050" b="0">
                <a:solidFill>
                  <a:srgbClr val="4B5563"/>
                </a:solidFill>
                <a:latin typeface="Segoe UI"/>
              </a:rPr>
              <a:t>A five-line sale failing on the third left two deltas applied and re-applied them on retry. Stock movements are now one event per SKU.</a:t>
            </a:r>
          </a:p>
        </p:txBody>
      </p:sp>
      <p:sp>
        <p:nvSpPr>
          <p:cNvPr id="18" name="TextBox 17"/>
          <p:cNvSpPr txBox="1"/>
          <p:nvPr/>
        </p:nvSpPr>
        <p:spPr>
          <a:xfrm>
            <a:off x="8778240" y="3584448"/>
            <a:ext cx="2743200" cy="365760"/>
          </a:xfrm>
          <a:prstGeom prst="rect">
            <a:avLst/>
          </a:prstGeom>
          <a:noFill/>
        </p:spPr>
        <p:txBody>
          <a:bodyPr wrap="square" anchor="t" lIns="0" rIns="0" tIns="0" bIns="0">
            <a:spAutoFit/>
          </a:bodyPr>
          <a:lstStyle/>
          <a:p>
            <a:pPr algn="l">
              <a:lnSpc>
                <a:spcPct val="100000"/>
              </a:lnSpc>
              <a:spcAft>
                <a:spcPts val="0"/>
              </a:spcAft>
            </a:pPr>
            <a:r>
              <a:rPr sz="1050" b="1">
                <a:solidFill>
                  <a:srgbClr val="1B7F5A"/>
                </a:solidFill>
                <a:latin typeface="Segoe UI"/>
              </a:rPr>
              <a:t>single-statement discharge</a:t>
            </a:r>
          </a:p>
        </p:txBody>
      </p:sp>
      <p:sp>
        <p:nvSpPr>
          <p:cNvPr id="19" name="Rectangle 18"/>
          <p:cNvSpPr/>
          <p:nvPr/>
        </p:nvSpPr>
        <p:spPr>
          <a:xfrm>
            <a:off x="566928" y="4224528"/>
            <a:ext cx="11064240" cy="85953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66928" y="4224528"/>
            <a:ext cx="45720" cy="859536"/>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41248" y="4334256"/>
            <a:ext cx="7772400" cy="685800"/>
          </a:xfrm>
          <a:prstGeom prst="rect">
            <a:avLst/>
          </a:prstGeom>
          <a:noFill/>
        </p:spPr>
        <p:txBody>
          <a:bodyPr wrap="square" anchor="t" lIns="0" rIns="0" tIns="0" bIns="0">
            <a:spAutoFit/>
          </a:bodyPr>
          <a:lstStyle/>
          <a:p>
            <a:pPr algn="l">
              <a:lnSpc>
                <a:spcPct val="108000"/>
              </a:lnSpc>
              <a:spcAft>
                <a:spcPts val="200"/>
              </a:spcAft>
            </a:pPr>
            <a:r>
              <a:rPr sz="1250" b="1">
                <a:solidFill>
                  <a:srgbClr val="0F2A4A"/>
                </a:solidFill>
                <a:latin typeface="Segoe UI"/>
              </a:rPr>
              <a:t>Every sync run reported failure</a:t>
            </a:r>
          </a:p>
          <a:p>
            <a:pPr algn="l">
              <a:lnSpc>
                <a:spcPct val="108000"/>
              </a:lnSpc>
              <a:spcAft>
                <a:spcPts val="200"/>
              </a:spcAft>
            </a:pPr>
            <a:r>
              <a:rPr sz="1050" b="0">
                <a:solidFill>
                  <a:srgbClr val="4B5563"/>
                </a:solidFill>
                <a:latin typeface="Segoe UI"/>
              </a:rPr>
              <a:t>Payment events had no origin mapping, threw, burned eight retries each and dragged every run to failed. They are now discharged explicitly as skipped, with a reason.</a:t>
            </a:r>
          </a:p>
        </p:txBody>
      </p:sp>
      <p:sp>
        <p:nvSpPr>
          <p:cNvPr id="22" name="TextBox 21"/>
          <p:cNvSpPr txBox="1"/>
          <p:nvPr/>
        </p:nvSpPr>
        <p:spPr>
          <a:xfrm>
            <a:off x="8778240" y="4498848"/>
            <a:ext cx="2743200" cy="365760"/>
          </a:xfrm>
          <a:prstGeom prst="rect">
            <a:avLst/>
          </a:prstGeom>
          <a:noFill/>
        </p:spPr>
        <p:txBody>
          <a:bodyPr wrap="square" anchor="t" lIns="0" rIns="0" tIns="0" bIns="0">
            <a:spAutoFit/>
          </a:bodyPr>
          <a:lstStyle/>
          <a:p>
            <a:pPr algn="l">
              <a:lnSpc>
                <a:spcPct val="100000"/>
              </a:lnSpc>
              <a:spcAft>
                <a:spcPts val="0"/>
              </a:spcAft>
            </a:pPr>
            <a:r>
              <a:rPr sz="1050" b="1">
                <a:solidFill>
                  <a:srgbClr val="1B7F5A"/>
                </a:solidFill>
                <a:latin typeface="Segoe UI"/>
              </a:rPr>
              <a:t>skipped ≠ synced</a:t>
            </a:r>
          </a:p>
        </p:txBody>
      </p:sp>
      <p:sp>
        <p:nvSpPr>
          <p:cNvPr id="23" name="Rectangle 22"/>
          <p:cNvSpPr/>
          <p:nvPr/>
        </p:nvSpPr>
        <p:spPr>
          <a:xfrm>
            <a:off x="566928" y="5138928"/>
            <a:ext cx="11064240" cy="859536"/>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566928" y="5138928"/>
            <a:ext cx="45720" cy="859536"/>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1248" y="5248656"/>
            <a:ext cx="7772400" cy="685800"/>
          </a:xfrm>
          <a:prstGeom prst="rect">
            <a:avLst/>
          </a:prstGeom>
          <a:noFill/>
        </p:spPr>
        <p:txBody>
          <a:bodyPr wrap="square" anchor="t" lIns="0" rIns="0" tIns="0" bIns="0">
            <a:spAutoFit/>
          </a:bodyPr>
          <a:lstStyle/>
          <a:p>
            <a:pPr algn="l">
              <a:lnSpc>
                <a:spcPct val="108000"/>
              </a:lnSpc>
              <a:spcAft>
                <a:spcPts val="200"/>
              </a:spcAft>
            </a:pPr>
            <a:r>
              <a:rPr sz="1250" b="1">
                <a:solidFill>
                  <a:srgbClr val="0F2A4A"/>
                </a:solidFill>
                <a:latin typeface="Segoe UI"/>
              </a:rPr>
              <a:t>Reconciliation was a dead type field</a:t>
            </a:r>
          </a:p>
          <a:p>
            <a:pPr algn="l">
              <a:lnSpc>
                <a:spcPct val="108000"/>
              </a:lnSpc>
              <a:spcAft>
                <a:spcPts val="200"/>
              </a:spcAft>
            </a:pPr>
            <a:r>
              <a:rPr sz="1050" b="0">
                <a:solidFill>
                  <a:srgbClr val="4B5563"/>
                </a:solidFill>
                <a:latin typeface="Segoe UI"/>
              </a:rPr>
              <a:t>Declared in the result type and never populated. Now implemented, scoped to the SKUs a run touched, reporting mismatches without ever correcting them.</a:t>
            </a:r>
          </a:p>
        </p:txBody>
      </p:sp>
      <p:sp>
        <p:nvSpPr>
          <p:cNvPr id="26" name="TextBox 25"/>
          <p:cNvSpPr txBox="1"/>
          <p:nvPr/>
        </p:nvSpPr>
        <p:spPr>
          <a:xfrm>
            <a:off x="8778240" y="5413248"/>
            <a:ext cx="2743200" cy="365760"/>
          </a:xfrm>
          <a:prstGeom prst="rect">
            <a:avLst/>
          </a:prstGeom>
          <a:noFill/>
        </p:spPr>
        <p:txBody>
          <a:bodyPr wrap="square" anchor="t" lIns="0" rIns="0" tIns="0" bIns="0">
            <a:spAutoFit/>
          </a:bodyPr>
          <a:lstStyle/>
          <a:p>
            <a:pPr algn="l">
              <a:lnSpc>
                <a:spcPct val="100000"/>
              </a:lnSpc>
              <a:spcAft>
                <a:spcPts val="0"/>
              </a:spcAft>
            </a:pPr>
            <a:r>
              <a:rPr sz="1050" b="1">
                <a:solidFill>
                  <a:srgbClr val="1B7F5A"/>
                </a:solidFill>
                <a:latin typeface="Segoe UI"/>
              </a:rPr>
              <a:t>report, never overwrite</a:t>
            </a:r>
          </a:p>
        </p:txBody>
      </p:sp>
      <p:sp>
        <p:nvSpPr>
          <p:cNvPr id="27" name="TextBox 26"/>
          <p:cNvSpPr txBox="1"/>
          <p:nvPr/>
        </p:nvSpPr>
        <p:spPr>
          <a:xfrm>
            <a:off x="566928" y="6437376"/>
            <a:ext cx="7315200" cy="237744"/>
          </a:xfrm>
          <a:prstGeom prst="rect">
            <a:avLst/>
          </a:prstGeom>
          <a:noFill/>
        </p:spPr>
        <p:txBody>
          <a:bodyPr wrap="square" anchor="t" lIns="0" rIns="0" tIns="0" bIns="0">
            <a:spAutoFit/>
          </a:bodyPr>
          <a:lstStyle/>
          <a:p>
            <a:pPr algn="l">
              <a:lnSpc>
                <a:spcPct val="100000"/>
              </a:lnSpc>
              <a:spcAft>
                <a:spcPts val="0"/>
              </a:spcAft>
            </a:pPr>
            <a:r>
              <a:rPr sz="900" b="0">
                <a:solidFill>
                  <a:srgbClr val="6B7280"/>
                </a:solidFill>
                <a:latin typeface="Segoe UI"/>
              </a:rPr>
              <a:t>SnapUp — scan-and-pay retail checkout</a:t>
            </a:r>
          </a:p>
        </p:txBody>
      </p:sp>
      <p:sp>
        <p:nvSpPr>
          <p:cNvPr id="28" name="TextBox 27"/>
          <p:cNvSpPr txBox="1"/>
          <p:nvPr/>
        </p:nvSpPr>
        <p:spPr>
          <a:xfrm>
            <a:off x="11002975" y="6437376"/>
            <a:ext cx="640080" cy="237744"/>
          </a:xfrm>
          <a:prstGeom prst="rect">
            <a:avLst/>
          </a:prstGeom>
          <a:noFill/>
        </p:spPr>
        <p:txBody>
          <a:bodyPr wrap="square" anchor="t" lIns="0" rIns="0" tIns="0" bIns="0">
            <a:spAutoFit/>
          </a:bodyPr>
          <a:lstStyle/>
          <a:p>
            <a:pPr algn="r">
              <a:lnSpc>
                <a:spcPct val="100000"/>
              </a:lnSpc>
              <a:spcAft>
                <a:spcPts val="0"/>
              </a:spcAft>
            </a:pPr>
            <a:r>
              <a:rPr sz="900" b="0">
                <a:solidFill>
                  <a:srgbClr val="6B7280"/>
                </a:solidFill>
                <a:latin typeface="Segoe U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45720"/>
          </a:xfrm>
          <a:prstGeom prst="rect">
            <a:avLst/>
          </a:prstGeom>
          <a:solidFill>
            <a:srgbClr val="1B7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82880"/>
            <a:ext cx="10058400" cy="256032"/>
          </a:xfrm>
          <a:prstGeom prst="rect">
            <a:avLst/>
          </a:prstGeom>
          <a:noFill/>
        </p:spPr>
        <p:txBody>
          <a:bodyPr wrap="square" anchor="t" lIns="0" rIns="0" tIns="0" bIns="0">
            <a:spAutoFit/>
          </a:bodyPr>
          <a:lstStyle/>
          <a:p>
            <a:pPr algn="l">
              <a:lnSpc>
                <a:spcPct val="100000"/>
              </a:lnSpc>
              <a:spcAft>
                <a:spcPts val="0"/>
              </a:spcAft>
            </a:pPr>
            <a:r>
              <a:rPr sz="1050" b="1">
                <a:solidFill>
                  <a:srgbClr val="7FC8AC"/>
                </a:solidFill>
                <a:latin typeface="Segoe UI"/>
              </a:rPr>
              <a:t>EVIDENCE</a:t>
            </a:r>
          </a:p>
        </p:txBody>
      </p:sp>
      <p:sp>
        <p:nvSpPr>
          <p:cNvPr id="6" name="TextBox 5"/>
          <p:cNvSpPr txBox="1"/>
          <p:nvPr/>
        </p:nvSpPr>
        <p:spPr>
          <a:xfrm>
            <a:off x="566928" y="438912"/>
            <a:ext cx="11064240" cy="502920"/>
          </a:xfrm>
          <a:prstGeom prst="rect">
            <a:avLst/>
          </a:prstGeom>
          <a:noFill/>
        </p:spPr>
        <p:txBody>
          <a:bodyPr wrap="square" anchor="t" lIns="0" rIns="0" tIns="0" bIns="0">
            <a:spAutoFit/>
          </a:bodyPr>
          <a:lstStyle/>
          <a:p>
            <a:pPr algn="l">
              <a:lnSpc>
                <a:spcPct val="100000"/>
              </a:lnSpc>
              <a:spcAft>
                <a:spcPts val="0"/>
              </a:spcAft>
            </a:pPr>
            <a:r>
              <a:rPr sz="2500" b="1">
                <a:solidFill>
                  <a:srgbClr val="FFFFFF"/>
                </a:solidFill>
                <a:latin typeface="Segoe UI"/>
              </a:rPr>
              <a:t>How the claims can be re-checked</a:t>
            </a:r>
          </a:p>
        </p:txBody>
      </p:sp>
      <p:sp>
        <p:nvSpPr>
          <p:cNvPr id="7" name="TextBox 6"/>
          <p:cNvSpPr txBox="1"/>
          <p:nvPr/>
        </p:nvSpPr>
        <p:spPr>
          <a:xfrm>
            <a:off x="566928" y="1481328"/>
            <a:ext cx="5577840" cy="4114800"/>
          </a:xfrm>
          <a:prstGeom prst="rect">
            <a:avLst/>
          </a:prstGeom>
          <a:noFill/>
        </p:spPr>
        <p:txBody>
          <a:bodyPr wrap="square" anchor="t" lIns="0" rIns="0" tIns="0" bIns="0">
            <a:spAutoFit/>
          </a:bodyPr>
          <a:lstStyle/>
          <a:p>
            <a:pPr algn="l">
              <a:lnSpc>
                <a:spcPct val="115000"/>
              </a:lnSpc>
              <a:spcAft>
                <a:spcPts val="900"/>
              </a:spcAft>
            </a:pPr>
            <a:r>
              <a:rPr sz="1300" b="1">
                <a:solidFill>
                  <a:srgbClr val="0F2A4A"/>
                </a:solidFill>
                <a:latin typeface="Segoe UI"/>
              </a:rPr>
              <a:t>Measured, not asserted.  </a:t>
            </a:r>
          </a:p>
          <a:p>
            <a:pPr algn="l">
              <a:lnSpc>
                <a:spcPct val="115000"/>
              </a:lnSpc>
              <a:spcAft>
                <a:spcPts val="900"/>
              </a:spcAft>
            </a:pPr>
            <a:r>
              <a:rPr sz="1250" b="0">
                <a:solidFill>
                  <a:srgbClr val="4B5563"/>
                </a:solidFill>
                <a:latin typeface="Segoe UI"/>
              </a:rPr>
              <a:t>Each fix above was reproduced against a real database before and after — the numbers on the previous slide are observed output, not estimates.</a:t>
            </a:r>
          </a:p>
          <a:p>
            <a:pPr algn="l">
              <a:lnSpc>
                <a:spcPct val="115000"/>
              </a:lnSpc>
              <a:spcAft>
                <a:spcPts val="900"/>
              </a:spcAft>
            </a:pPr>
            <a:r>
              <a:rPr sz="1300" b="1">
                <a:solidFill>
                  <a:srgbClr val="0F2A4A"/>
                </a:solidFill>
                <a:latin typeface="Segoe UI"/>
              </a:rPr>
              <a:t>The schema is idempotent.  </a:t>
            </a:r>
          </a:p>
          <a:p>
            <a:pPr algn="l">
              <a:lnSpc>
                <a:spcPct val="115000"/>
              </a:lnSpc>
              <a:spcAft>
                <a:spcPts val="900"/>
              </a:spcAft>
            </a:pPr>
            <a:r>
              <a:rPr sz="1250" b="0">
                <a:solidFill>
                  <a:srgbClr val="4B5563"/>
                </a:solidFill>
                <a:latin typeface="Segoe UI"/>
              </a:rPr>
              <a:t>db:migrate is safe to re-run; that is how a new column reaches an existing database without a migration framework.</a:t>
            </a:r>
          </a:p>
          <a:p>
            <a:pPr algn="l">
              <a:lnSpc>
                <a:spcPct val="115000"/>
              </a:lnSpc>
              <a:spcAft>
                <a:spcPts val="900"/>
              </a:spcAft>
            </a:pPr>
            <a:r>
              <a:rPr sz="1300" b="1">
                <a:solidFill>
                  <a:srgbClr val="0F2A4A"/>
                </a:solidFill>
                <a:latin typeface="Segoe UI"/>
              </a:rPr>
              <a:t>The dataset is the real one.  </a:t>
            </a:r>
          </a:p>
          <a:p>
            <a:pPr algn="l">
              <a:lnSpc>
                <a:spcPct val="115000"/>
              </a:lnSpc>
              <a:spcAft>
                <a:spcPts val="900"/>
              </a:spcAft>
            </a:pPr>
            <a:r>
              <a:rPr sz="1250" b="0">
                <a:solidFill>
                  <a:srgbClr val="4B5563"/>
                </a:solidFill>
                <a:latin typeface="Segoe UI"/>
              </a:rPr>
              <a:t>547 SKUs from the pilot catalogue, imported from CSV, with per-store pricing and GST held in integer paise throughout — never floats.</a:t>
            </a:r>
          </a:p>
        </p:txBody>
      </p:sp>
      <p:sp>
        <p:nvSpPr>
          <p:cNvPr id="8" name="Rectangle 7"/>
          <p:cNvSpPr/>
          <p:nvPr/>
        </p:nvSpPr>
        <p:spPr>
          <a:xfrm>
            <a:off x="6492240" y="1691640"/>
            <a:ext cx="5138928" cy="1874519"/>
          </a:xfrm>
          <a:prstGeom prst="rect">
            <a:avLst/>
          </a:prstGeom>
          <a:solidFill>
            <a:srgbClr val="0B1F3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656832" y="1801368"/>
            <a:ext cx="4809744" cy="1655063"/>
          </a:xfrm>
          <a:prstGeom prst="rect">
            <a:avLst/>
          </a:prstGeom>
          <a:noFill/>
        </p:spPr>
        <p:txBody>
          <a:bodyPr wrap="square" lIns="0" rIns="0" tIns="0" bIns="0">
            <a:spAutoFit/>
          </a:bodyPr>
          <a:lstStyle/>
          <a:p>
            <a:pPr>
              <a:spcAft>
                <a:spcPts val="200"/>
              </a:spcAft>
            </a:pPr>
            <a:r>
              <a:rPr sz="1200">
                <a:solidFill>
                  <a:srgbClr val="7FC8AC"/>
                </a:solidFill>
                <a:latin typeface="Consolas"/>
              </a:rPr>
              <a:t>npm run db:migrate</a:t>
            </a:r>
          </a:p>
          <a:p>
            <a:pPr>
              <a:spcAft>
                <a:spcPts val="200"/>
              </a:spcAft>
            </a:pPr>
            <a:r>
              <a:rPr sz="1200">
                <a:solidFill>
                  <a:srgbClr val="7FC8AC"/>
                </a:solidFill>
                <a:latin typeface="Consolas"/>
              </a:rPr>
              <a:t>npm run db:import -- \</a:t>
            </a:r>
          </a:p>
          <a:p>
            <a:pPr>
              <a:spcAft>
                <a:spcPts val="200"/>
              </a:spcAft>
            </a:pPr>
            <a:r>
              <a:rPr sz="1200">
                <a:solidFill>
                  <a:srgbClr val="FFFFFF"/>
                </a:solidFill>
                <a:latin typeface="Consolas"/>
              </a:rPr>
              <a:t>    data/kumbakonam-store.csv \</a:t>
            </a:r>
          </a:p>
          <a:p>
            <a:pPr>
              <a:spcAft>
                <a:spcPts val="200"/>
              </a:spcAft>
            </a:pPr>
            <a:r>
              <a:rPr sz="1200">
                <a:solidFill>
                  <a:srgbClr val="FFFFFF"/>
                </a:solidFill>
                <a:latin typeface="Consolas"/>
              </a:rPr>
              <a:t>    data/snapmart-products.csv</a:t>
            </a:r>
          </a:p>
          <a:p>
            <a:pPr>
              <a:spcAft>
                <a:spcPts val="200"/>
              </a:spcAft>
            </a:pPr>
            <a:r>
              <a:rPr sz="1200">
                <a:solidFill>
                  <a:srgbClr val="FFFFFF"/>
                </a:solidFill>
                <a:latin typeface="Consolas"/>
              </a:rPr>
              <a:t/>
            </a:r>
          </a:p>
          <a:p>
            <a:pPr>
              <a:spcAft>
                <a:spcPts val="200"/>
              </a:spcAft>
            </a:pPr>
            <a:r>
              <a:rPr sz="1200">
                <a:solidFill>
                  <a:srgbClr val="7FC8AC"/>
                </a:solidFill>
                <a:latin typeface="Consolas"/>
              </a:rPr>
              <a:t>npm run dev:customer</a:t>
            </a:r>
          </a:p>
        </p:txBody>
      </p:sp>
      <p:sp>
        <p:nvSpPr>
          <p:cNvPr id="10" name="Rectangle 9"/>
          <p:cNvSpPr/>
          <p:nvPr/>
        </p:nvSpPr>
        <p:spPr>
          <a:xfrm>
            <a:off x="6492240" y="3794760"/>
            <a:ext cx="5138928" cy="1737360"/>
          </a:xfrm>
          <a:prstGeom prst="rect">
            <a:avLst/>
          </a:prstGeom>
          <a:solidFill>
            <a:srgbClr val="FD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492240" y="3794760"/>
            <a:ext cx="54864" cy="1737360"/>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12280" y="4005072"/>
            <a:ext cx="4572000" cy="1371600"/>
          </a:xfrm>
          <a:prstGeom prst="rect">
            <a:avLst/>
          </a:prstGeom>
          <a:noFill/>
        </p:spPr>
        <p:txBody>
          <a:bodyPr wrap="square" anchor="t" lIns="0" rIns="0" tIns="0" bIns="0">
            <a:spAutoFit/>
          </a:bodyPr>
          <a:lstStyle/>
          <a:p>
            <a:pPr algn="l">
              <a:lnSpc>
                <a:spcPct val="110000"/>
              </a:lnSpc>
              <a:spcAft>
                <a:spcPts val="600"/>
              </a:spcAft>
            </a:pPr>
            <a:r>
              <a:rPr sz="1300" b="1">
                <a:solidFill>
                  <a:srgbClr val="B45309"/>
                </a:solidFill>
                <a:latin typeface="Segoe UI"/>
              </a:rPr>
              <a:t>The validation harness needs repair</a:t>
            </a:r>
          </a:p>
          <a:p>
            <a:pPr algn="l">
              <a:lnSpc>
                <a:spcPct val="110000"/>
              </a:lnSpc>
              <a:spcAft>
                <a:spcPts val="600"/>
              </a:spcAft>
            </a:pPr>
            <a:r>
              <a:rPr sz="1150" b="0">
                <a:solidFill>
                  <a:srgbClr val="4B5563"/>
                </a:solidFill>
                <a:latin typeface="Segoe UI"/>
              </a:rPr>
              <a:t>scripts/validate-requirements.mjs holds 88 cases written against the in-memory seed fixtures. The app now defaults to the database, whose pilot store has no registered network, so the fixtures no longer line up and the suite does not pass end-to-end.</a:t>
            </a:r>
          </a:p>
        </p:txBody>
      </p:sp>
      <p:sp>
        <p:nvSpPr>
          <p:cNvPr id="13" name="TextBox 12"/>
          <p:cNvSpPr txBox="1"/>
          <p:nvPr/>
        </p:nvSpPr>
        <p:spPr>
          <a:xfrm>
            <a:off x="566928" y="6437376"/>
            <a:ext cx="7315200" cy="237744"/>
          </a:xfrm>
          <a:prstGeom prst="rect">
            <a:avLst/>
          </a:prstGeom>
          <a:noFill/>
        </p:spPr>
        <p:txBody>
          <a:bodyPr wrap="square" anchor="t" lIns="0" rIns="0" tIns="0" bIns="0">
            <a:spAutoFit/>
          </a:bodyPr>
          <a:lstStyle/>
          <a:p>
            <a:pPr algn="l">
              <a:lnSpc>
                <a:spcPct val="100000"/>
              </a:lnSpc>
              <a:spcAft>
                <a:spcPts val="0"/>
              </a:spcAft>
            </a:pPr>
            <a:r>
              <a:rPr sz="900" b="0">
                <a:solidFill>
                  <a:srgbClr val="6B7280"/>
                </a:solidFill>
                <a:latin typeface="Segoe UI"/>
              </a:rPr>
              <a:t>SnapUp — scan-and-pay retail checkout</a:t>
            </a:r>
          </a:p>
        </p:txBody>
      </p:sp>
      <p:sp>
        <p:nvSpPr>
          <p:cNvPr id="14" name="TextBox 13"/>
          <p:cNvSpPr txBox="1"/>
          <p:nvPr/>
        </p:nvSpPr>
        <p:spPr>
          <a:xfrm>
            <a:off x="11002975" y="6437376"/>
            <a:ext cx="640080" cy="237744"/>
          </a:xfrm>
          <a:prstGeom prst="rect">
            <a:avLst/>
          </a:prstGeom>
          <a:noFill/>
        </p:spPr>
        <p:txBody>
          <a:bodyPr wrap="square" anchor="t" lIns="0" rIns="0" tIns="0" bIns="0">
            <a:spAutoFit/>
          </a:bodyPr>
          <a:lstStyle/>
          <a:p>
            <a:pPr algn="r">
              <a:lnSpc>
                <a:spcPct val="100000"/>
              </a:lnSpc>
              <a:spcAft>
                <a:spcPts val="0"/>
              </a:spcAft>
            </a:pPr>
            <a:r>
              <a:rPr sz="900" b="0">
                <a:solidFill>
                  <a:srgbClr val="6B7280"/>
                </a:solidFill>
                <a:latin typeface="Segoe U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45720"/>
          </a:xfrm>
          <a:prstGeom prst="rect">
            <a:avLst/>
          </a:prstGeom>
          <a:solidFill>
            <a:srgbClr val="1B7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82880"/>
            <a:ext cx="10058400" cy="256032"/>
          </a:xfrm>
          <a:prstGeom prst="rect">
            <a:avLst/>
          </a:prstGeom>
          <a:noFill/>
        </p:spPr>
        <p:txBody>
          <a:bodyPr wrap="square" anchor="t" lIns="0" rIns="0" tIns="0" bIns="0">
            <a:spAutoFit/>
          </a:bodyPr>
          <a:lstStyle/>
          <a:p>
            <a:pPr algn="l">
              <a:lnSpc>
                <a:spcPct val="100000"/>
              </a:lnSpc>
              <a:spcAft>
                <a:spcPts val="0"/>
              </a:spcAft>
            </a:pPr>
            <a:r>
              <a:rPr sz="1050" b="1">
                <a:solidFill>
                  <a:srgbClr val="7FC8AC"/>
                </a:solidFill>
                <a:latin typeface="Segoe UI"/>
              </a:rPr>
              <a:t>HONEST STATUS</a:t>
            </a:r>
          </a:p>
        </p:txBody>
      </p:sp>
      <p:sp>
        <p:nvSpPr>
          <p:cNvPr id="6" name="TextBox 5"/>
          <p:cNvSpPr txBox="1"/>
          <p:nvPr/>
        </p:nvSpPr>
        <p:spPr>
          <a:xfrm>
            <a:off x="566928" y="438912"/>
            <a:ext cx="11064240" cy="502920"/>
          </a:xfrm>
          <a:prstGeom prst="rect">
            <a:avLst/>
          </a:prstGeom>
          <a:noFill/>
        </p:spPr>
        <p:txBody>
          <a:bodyPr wrap="square" anchor="t" lIns="0" rIns="0" tIns="0" bIns="0">
            <a:spAutoFit/>
          </a:bodyPr>
          <a:lstStyle/>
          <a:p>
            <a:pPr algn="l">
              <a:lnSpc>
                <a:spcPct val="100000"/>
              </a:lnSpc>
              <a:spcAft>
                <a:spcPts val="0"/>
              </a:spcAft>
            </a:pPr>
            <a:r>
              <a:rPr sz="2500" b="1">
                <a:solidFill>
                  <a:srgbClr val="FFFFFF"/>
                </a:solidFill>
                <a:latin typeface="Segoe UI"/>
              </a:rPr>
              <a:t>What is not built, and what is blocked</a:t>
            </a:r>
          </a:p>
        </p:txBody>
      </p:sp>
      <p:sp>
        <p:nvSpPr>
          <p:cNvPr id="7" name="TextBox 6"/>
          <p:cNvSpPr txBox="1"/>
          <p:nvPr/>
        </p:nvSpPr>
        <p:spPr>
          <a:xfrm>
            <a:off x="566928" y="1444752"/>
            <a:ext cx="11064240" cy="365760"/>
          </a:xfrm>
          <a:prstGeom prst="rect">
            <a:avLst/>
          </a:prstGeom>
          <a:noFill/>
        </p:spPr>
        <p:txBody>
          <a:bodyPr wrap="square" anchor="t" lIns="0" rIns="0" tIns="0" bIns="0">
            <a:spAutoFit/>
          </a:bodyPr>
          <a:lstStyle/>
          <a:p>
            <a:pPr algn="l">
              <a:lnSpc>
                <a:spcPct val="100000"/>
              </a:lnSpc>
              <a:spcAft>
                <a:spcPts val="1000"/>
              </a:spcAft>
            </a:pPr>
            <a:r>
              <a:rPr sz="1350" b="0">
                <a:solidFill>
                  <a:srgbClr val="6B7280"/>
                </a:solidFill>
                <a:latin typeface="Segoe UI"/>
              </a:rPr>
              <a:t>Stating this plainly is worth more than a demo that hides it.</a:t>
            </a:r>
          </a:p>
        </p:txBody>
      </p:sp>
      <p:sp>
        <p:nvSpPr>
          <p:cNvPr id="8" name="Rectangle 7"/>
          <p:cNvSpPr/>
          <p:nvPr/>
        </p:nvSpPr>
        <p:spPr>
          <a:xfrm>
            <a:off x="566928" y="1874519"/>
            <a:ext cx="5486400" cy="841248"/>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874519"/>
            <a:ext cx="45720" cy="841248"/>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41248" y="1993391"/>
            <a:ext cx="4937760" cy="640080"/>
          </a:xfrm>
          <a:prstGeom prst="rect">
            <a:avLst/>
          </a:prstGeom>
          <a:noFill/>
        </p:spPr>
        <p:txBody>
          <a:bodyPr wrap="square" anchor="t" lIns="0" rIns="0" tIns="0" bIns="0">
            <a:spAutoFit/>
          </a:bodyPr>
          <a:lstStyle/>
          <a:p>
            <a:pPr algn="l">
              <a:lnSpc>
                <a:spcPct val="108000"/>
              </a:lnSpc>
              <a:spcAft>
                <a:spcPts val="200"/>
              </a:spcAft>
            </a:pPr>
            <a:r>
              <a:rPr sz="1250" b="1">
                <a:solidFill>
                  <a:srgbClr val="0F2A4A"/>
                </a:solidFill>
                <a:latin typeface="Segoe UI"/>
              </a:rPr>
              <a:t>Bill generation</a:t>
            </a:r>
          </a:p>
          <a:p>
            <a:pPr algn="l">
              <a:lnSpc>
                <a:spcPct val="108000"/>
              </a:lnSpc>
              <a:spcAft>
                <a:spcPts val="200"/>
              </a:spcAft>
            </a:pPr>
            <a:r>
              <a:rPr sz="1050" b="0">
                <a:solidFill>
                  <a:srgbClr val="4B5563"/>
                </a:solidFill>
                <a:latin typeface="Segoe UI"/>
              </a:rPr>
              <a:t>bill_items and bill_number exist in the schema; nothing writes them yet. Approval moves stock and state but does not mint a bill number.</a:t>
            </a:r>
          </a:p>
        </p:txBody>
      </p:sp>
      <p:sp>
        <p:nvSpPr>
          <p:cNvPr id="11" name="Rectangle 10"/>
          <p:cNvSpPr/>
          <p:nvPr/>
        </p:nvSpPr>
        <p:spPr>
          <a:xfrm>
            <a:off x="566928" y="2788919"/>
            <a:ext cx="5486400" cy="841248"/>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2788919"/>
            <a:ext cx="45720" cy="841248"/>
          </a:xfrm>
          <a:prstGeom prst="rect">
            <a:avLst/>
          </a:prstGeom>
          <a:solidFill>
            <a:srgbClr val="B91C1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1248" y="2907791"/>
            <a:ext cx="4937760" cy="640080"/>
          </a:xfrm>
          <a:prstGeom prst="rect">
            <a:avLst/>
          </a:prstGeom>
          <a:noFill/>
        </p:spPr>
        <p:txBody>
          <a:bodyPr wrap="square" anchor="t" lIns="0" rIns="0" tIns="0" bIns="0">
            <a:spAutoFit/>
          </a:bodyPr>
          <a:lstStyle/>
          <a:p>
            <a:pPr algn="l">
              <a:lnSpc>
                <a:spcPct val="108000"/>
              </a:lnSpc>
              <a:spcAft>
                <a:spcPts val="200"/>
              </a:spcAft>
            </a:pPr>
            <a:r>
              <a:rPr sz="1250" b="1">
                <a:solidFill>
                  <a:srgbClr val="0F2A4A"/>
                </a:solidFill>
                <a:latin typeface="Segoe UI"/>
              </a:rPr>
              <a:t>Payment initiation</a:t>
            </a:r>
          </a:p>
          <a:p>
            <a:pPr algn="l">
              <a:lnSpc>
                <a:spcPct val="108000"/>
              </a:lnSpc>
              <a:spcAft>
                <a:spcPts val="200"/>
              </a:spcAft>
            </a:pPr>
            <a:r>
              <a:rPr sz="1050" b="0">
                <a:solidFill>
                  <a:srgbClr val="4B5563"/>
                </a:solidFill>
                <a:latin typeface="Segoe UI"/>
              </a:rPr>
              <a:t>The webhook half is built and signature-verified. createPayment is implemented and not yet wired to a route, so a gateway payment cannot be started.</a:t>
            </a:r>
          </a:p>
        </p:txBody>
      </p:sp>
      <p:sp>
        <p:nvSpPr>
          <p:cNvPr id="14" name="Rectangle 13"/>
          <p:cNvSpPr/>
          <p:nvPr/>
        </p:nvSpPr>
        <p:spPr>
          <a:xfrm>
            <a:off x="566928" y="3703319"/>
            <a:ext cx="5486400" cy="841248"/>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3703319"/>
            <a:ext cx="45720" cy="84124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 y="3822191"/>
            <a:ext cx="4937760" cy="640080"/>
          </a:xfrm>
          <a:prstGeom prst="rect">
            <a:avLst/>
          </a:prstGeom>
          <a:noFill/>
        </p:spPr>
        <p:txBody>
          <a:bodyPr wrap="square" anchor="t" lIns="0" rIns="0" tIns="0" bIns="0">
            <a:spAutoFit/>
          </a:bodyPr>
          <a:lstStyle/>
          <a:p>
            <a:pPr algn="l">
              <a:lnSpc>
                <a:spcPct val="108000"/>
              </a:lnSpc>
              <a:spcAft>
                <a:spcPts val="200"/>
              </a:spcAft>
            </a:pPr>
            <a:r>
              <a:rPr sz="1250" b="1">
                <a:solidFill>
                  <a:srgbClr val="0F2A4A"/>
                </a:solidFill>
                <a:latin typeface="Segoe UI"/>
              </a:rPr>
              <a:t>The 30-minute trigger</a:t>
            </a:r>
          </a:p>
          <a:p>
            <a:pPr algn="l">
              <a:lnSpc>
                <a:spcPct val="108000"/>
              </a:lnSpc>
              <a:spcAft>
                <a:spcPts val="200"/>
              </a:spcAft>
            </a:pPr>
            <a:r>
              <a:rPr sz="1050" b="0">
                <a:solidFill>
                  <a:srgbClr val="4B5563"/>
                </a:solidFill>
                <a:latin typeface="Segoe UI"/>
              </a:rPr>
              <a:t>The sync endpoint exists; no scheduler calls it yet.</a:t>
            </a:r>
          </a:p>
        </p:txBody>
      </p:sp>
      <p:sp>
        <p:nvSpPr>
          <p:cNvPr id="17" name="Rectangle 16"/>
          <p:cNvSpPr/>
          <p:nvPr/>
        </p:nvSpPr>
        <p:spPr>
          <a:xfrm>
            <a:off x="566928" y="4617719"/>
            <a:ext cx="5486400" cy="841248"/>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66928" y="4617719"/>
            <a:ext cx="45720" cy="841248"/>
          </a:xfrm>
          <a:prstGeom prst="rect">
            <a:avLst/>
          </a:prstGeom>
          <a:solidFill>
            <a:srgbClr val="B4530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41248" y="4736591"/>
            <a:ext cx="4937760" cy="640080"/>
          </a:xfrm>
          <a:prstGeom prst="rect">
            <a:avLst/>
          </a:prstGeom>
          <a:noFill/>
        </p:spPr>
        <p:txBody>
          <a:bodyPr wrap="square" anchor="t" lIns="0" rIns="0" tIns="0" bIns="0">
            <a:spAutoFit/>
          </a:bodyPr>
          <a:lstStyle/>
          <a:p>
            <a:pPr algn="l">
              <a:lnSpc>
                <a:spcPct val="108000"/>
              </a:lnSpc>
              <a:spcAft>
                <a:spcPts val="200"/>
              </a:spcAft>
            </a:pPr>
            <a:r>
              <a:rPr sz="1250" b="1">
                <a:solidFill>
                  <a:srgbClr val="0F2A4A"/>
                </a:solidFill>
                <a:latin typeface="Segoe UI"/>
              </a:rPr>
              <a:t>Automated acceptance tests</a:t>
            </a:r>
          </a:p>
          <a:p>
            <a:pPr algn="l">
              <a:lnSpc>
                <a:spcPct val="108000"/>
              </a:lnSpc>
              <a:spcAft>
                <a:spcPts val="200"/>
              </a:spcAft>
            </a:pPr>
            <a:r>
              <a:rPr sz="1050" b="0">
                <a:solidFill>
                  <a:srgbClr val="4B5563"/>
                </a:solidFill>
                <a:latin typeface="Segoe UI"/>
              </a:rPr>
              <a:t>The nine scenarios in the brief were exercised by hand, not yet as a suite.</a:t>
            </a:r>
          </a:p>
        </p:txBody>
      </p:sp>
      <p:sp>
        <p:nvSpPr>
          <p:cNvPr id="20" name="Rectangle 19"/>
          <p:cNvSpPr/>
          <p:nvPr/>
        </p:nvSpPr>
        <p:spPr>
          <a:xfrm>
            <a:off x="6355080" y="1874519"/>
            <a:ext cx="5276088" cy="3547872"/>
          </a:xfrm>
          <a:prstGeom prst="rect">
            <a:avLst/>
          </a:prstGeom>
          <a:solidFill>
            <a:srgbClr val="EC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6355080" y="1874519"/>
            <a:ext cx="54864" cy="3547872"/>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675120" y="2103120"/>
            <a:ext cx="4709160" cy="3108960"/>
          </a:xfrm>
          <a:prstGeom prst="rect">
            <a:avLst/>
          </a:prstGeom>
          <a:noFill/>
        </p:spPr>
        <p:txBody>
          <a:bodyPr wrap="square" anchor="t" lIns="0" rIns="0" tIns="0" bIns="0">
            <a:spAutoFit/>
          </a:bodyPr>
          <a:lstStyle/>
          <a:p>
            <a:pPr algn="l">
              <a:lnSpc>
                <a:spcPct val="110000"/>
              </a:lnSpc>
              <a:spcAft>
                <a:spcPts val="800"/>
              </a:spcAft>
            </a:pPr>
            <a:r>
              <a:rPr sz="1400" b="1">
                <a:solidFill>
                  <a:srgbClr val="0F2A4A"/>
                </a:solidFill>
                <a:latin typeface="Segoe UI"/>
              </a:rPr>
              <a:t>Two decisions the owner has to make</a:t>
            </a:r>
          </a:p>
          <a:p>
            <a:pPr algn="l">
              <a:lnSpc>
                <a:spcPct val="110000"/>
              </a:lnSpc>
              <a:spcAft>
                <a:spcPts val="800"/>
              </a:spcAft>
            </a:pPr>
            <a:r>
              <a:rPr sz="1250" b="1">
                <a:solidFill>
                  <a:srgbClr val="0F2A4A"/>
                </a:solidFill>
                <a:latin typeface="Segoe UI"/>
              </a:rPr>
              <a:t>1.  Which payment gateway, and its credentials.</a:t>
            </a:r>
          </a:p>
          <a:p>
            <a:pPr algn="l">
              <a:lnSpc>
                <a:spcPct val="110000"/>
              </a:lnSpc>
              <a:spcAft>
                <a:spcPts val="800"/>
              </a:spcAft>
            </a:pPr>
            <a:r>
              <a:rPr sz="1200" b="0">
                <a:solidFill>
                  <a:srgbClr val="4B5563"/>
                </a:solidFill>
                <a:latin typeface="Segoe UI"/>
              </a:rPr>
              <a:t>A webhook signature is verified against a secret. Without it, "the gateway says this was paid" and "a stranger says this was paid" are the same sentence.</a:t>
            </a:r>
          </a:p>
          <a:p>
            <a:pPr algn="l">
              <a:lnSpc>
                <a:spcPct val="110000"/>
              </a:lnSpc>
              <a:spcAft>
                <a:spcPts val="800"/>
              </a:spcAft>
            </a:pPr>
            <a:r>
              <a:rPr sz="1250" b="1">
                <a:solidFill>
                  <a:srgbClr val="0F2A4A"/>
                </a:solidFill>
                <a:latin typeface="Segoe UI"/>
              </a:rPr>
              <a:t>2.  The original database's access and schema.</a:t>
            </a:r>
          </a:p>
          <a:p>
            <a:pPr algn="l">
              <a:lnSpc>
                <a:spcPct val="110000"/>
              </a:lnSpc>
              <a:spcAft>
                <a:spcPts val="800"/>
              </a:spcAft>
            </a:pPr>
            <a:r>
              <a:rPr sz="1200" b="0">
                <a:solidFill>
                  <a:srgbClr val="4B5563"/>
                </a:solidFill>
                <a:latin typeface="Segoe UI"/>
              </a:rPr>
              <a:t>Connection, permitted tables, conflict policy. The brief says obtain these in writing and not to guess them — and it is right.</a:t>
            </a:r>
          </a:p>
          <a:p>
            <a:pPr algn="l">
              <a:lnSpc>
                <a:spcPct val="110000"/>
              </a:lnSpc>
              <a:spcAft>
                <a:spcPts val="800"/>
              </a:spcAft>
            </a:pPr>
            <a:r>
              <a:rPr sz="1200" b="0">
                <a:solidFill>
                  <a:srgbClr val="4B5563"/>
                </a:solidFill>
                <a:latin typeface="Segoe UI"/>
              </a:rPr>
              <a:t>There is also one open discrepancy: the brief names inventory.available_qty as the authoritative stock field; this schema keeps stock on products. One of the two is wrong and it needs an answer, not a guess.</a:t>
            </a:r>
          </a:p>
        </p:txBody>
      </p:sp>
      <p:sp>
        <p:nvSpPr>
          <p:cNvPr id="23" name="TextBox 22"/>
          <p:cNvSpPr txBox="1"/>
          <p:nvPr/>
        </p:nvSpPr>
        <p:spPr>
          <a:xfrm>
            <a:off x="566928" y="6437376"/>
            <a:ext cx="7315200" cy="237744"/>
          </a:xfrm>
          <a:prstGeom prst="rect">
            <a:avLst/>
          </a:prstGeom>
          <a:noFill/>
        </p:spPr>
        <p:txBody>
          <a:bodyPr wrap="square" anchor="t" lIns="0" rIns="0" tIns="0" bIns="0">
            <a:spAutoFit/>
          </a:bodyPr>
          <a:lstStyle/>
          <a:p>
            <a:pPr algn="l">
              <a:lnSpc>
                <a:spcPct val="100000"/>
              </a:lnSpc>
              <a:spcAft>
                <a:spcPts val="0"/>
              </a:spcAft>
            </a:pPr>
            <a:r>
              <a:rPr sz="900" b="0">
                <a:solidFill>
                  <a:srgbClr val="6B7280"/>
                </a:solidFill>
                <a:latin typeface="Segoe UI"/>
              </a:rPr>
              <a:t>SnapUp — scan-and-pay retail checkout</a:t>
            </a:r>
          </a:p>
        </p:txBody>
      </p:sp>
      <p:sp>
        <p:nvSpPr>
          <p:cNvPr id="24" name="TextBox 23"/>
          <p:cNvSpPr txBox="1"/>
          <p:nvPr/>
        </p:nvSpPr>
        <p:spPr>
          <a:xfrm>
            <a:off x="11002975" y="6437376"/>
            <a:ext cx="640080" cy="237744"/>
          </a:xfrm>
          <a:prstGeom prst="rect">
            <a:avLst/>
          </a:prstGeom>
          <a:noFill/>
        </p:spPr>
        <p:txBody>
          <a:bodyPr wrap="square" anchor="t" lIns="0" rIns="0" tIns="0" bIns="0">
            <a:spAutoFit/>
          </a:bodyPr>
          <a:lstStyle/>
          <a:p>
            <a:pPr algn="r">
              <a:lnSpc>
                <a:spcPct val="100000"/>
              </a:lnSpc>
              <a:spcAft>
                <a:spcPts val="0"/>
              </a:spcAft>
            </a:pPr>
            <a:r>
              <a:rPr sz="900" b="0">
                <a:solidFill>
                  <a:srgbClr val="6B7280"/>
                </a:solidFill>
                <a:latin typeface="Segoe U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78992"/>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078992"/>
            <a:ext cx="12191695" cy="45720"/>
          </a:xfrm>
          <a:prstGeom prst="rect">
            <a:avLst/>
          </a:prstGeom>
          <a:solidFill>
            <a:srgbClr val="1B7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66928" y="182880"/>
            <a:ext cx="10058400" cy="256032"/>
          </a:xfrm>
          <a:prstGeom prst="rect">
            <a:avLst/>
          </a:prstGeom>
          <a:noFill/>
        </p:spPr>
        <p:txBody>
          <a:bodyPr wrap="square" anchor="t" lIns="0" rIns="0" tIns="0" bIns="0">
            <a:spAutoFit/>
          </a:bodyPr>
          <a:lstStyle/>
          <a:p>
            <a:pPr algn="l">
              <a:lnSpc>
                <a:spcPct val="100000"/>
              </a:lnSpc>
              <a:spcAft>
                <a:spcPts val="0"/>
              </a:spcAft>
            </a:pPr>
            <a:r>
              <a:rPr sz="1050" b="1">
                <a:solidFill>
                  <a:srgbClr val="7FC8AC"/>
                </a:solidFill>
                <a:latin typeface="Segoe UI"/>
              </a:rPr>
              <a:t>DEPLOYMENT</a:t>
            </a:r>
          </a:p>
        </p:txBody>
      </p:sp>
      <p:sp>
        <p:nvSpPr>
          <p:cNvPr id="6" name="TextBox 5"/>
          <p:cNvSpPr txBox="1"/>
          <p:nvPr/>
        </p:nvSpPr>
        <p:spPr>
          <a:xfrm>
            <a:off x="566928" y="438912"/>
            <a:ext cx="11064240" cy="502920"/>
          </a:xfrm>
          <a:prstGeom prst="rect">
            <a:avLst/>
          </a:prstGeom>
          <a:noFill/>
        </p:spPr>
        <p:txBody>
          <a:bodyPr wrap="square" anchor="t" lIns="0" rIns="0" tIns="0" bIns="0">
            <a:spAutoFit/>
          </a:bodyPr>
          <a:lstStyle/>
          <a:p>
            <a:pPr algn="l">
              <a:lnSpc>
                <a:spcPct val="100000"/>
              </a:lnSpc>
              <a:spcAft>
                <a:spcPts val="0"/>
              </a:spcAft>
            </a:pPr>
            <a:r>
              <a:rPr sz="2500" b="1">
                <a:solidFill>
                  <a:srgbClr val="FFFFFF"/>
                </a:solidFill>
                <a:latin typeface="Segoe UI"/>
              </a:rPr>
              <a:t>Where it runs</a:t>
            </a:r>
          </a:p>
        </p:txBody>
      </p:sp>
      <p:sp>
        <p:nvSpPr>
          <p:cNvPr id="7" name="TextBox 6"/>
          <p:cNvSpPr txBox="1"/>
          <p:nvPr/>
        </p:nvSpPr>
        <p:spPr>
          <a:xfrm>
            <a:off x="566928" y="1444752"/>
            <a:ext cx="11064240" cy="365760"/>
          </a:xfrm>
          <a:prstGeom prst="rect">
            <a:avLst/>
          </a:prstGeom>
          <a:noFill/>
        </p:spPr>
        <p:txBody>
          <a:bodyPr wrap="square" anchor="t" lIns="0" rIns="0" tIns="0" bIns="0">
            <a:spAutoFit/>
          </a:bodyPr>
          <a:lstStyle/>
          <a:p>
            <a:pPr algn="l">
              <a:lnSpc>
                <a:spcPct val="100000"/>
              </a:lnSpc>
              <a:spcAft>
                <a:spcPts val="1200"/>
              </a:spcAft>
            </a:pPr>
            <a:r>
              <a:rPr sz="1350" b="0">
                <a:solidFill>
                  <a:srgbClr val="4B5563"/>
                </a:solidFill>
                <a:latin typeface="Segoe UI"/>
              </a:rPr>
              <a:t>Two services on Railway, Mumbai region, against a hosted Postgres. Both are live.</a:t>
            </a:r>
          </a:p>
        </p:txBody>
      </p:sp>
      <p:sp>
        <p:nvSpPr>
          <p:cNvPr id="8" name="Rectangle 7"/>
          <p:cNvSpPr/>
          <p:nvPr/>
        </p:nvSpPr>
        <p:spPr>
          <a:xfrm>
            <a:off x="566928" y="1938528"/>
            <a:ext cx="6766560" cy="1024128"/>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66928" y="1938528"/>
            <a:ext cx="54864" cy="1024128"/>
          </a:xfrm>
          <a:prstGeom prst="rect">
            <a:avLst/>
          </a:prstGeom>
          <a:solidFill>
            <a:srgbClr val="1B7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2084832"/>
            <a:ext cx="6309360" cy="822960"/>
          </a:xfrm>
          <a:prstGeom prst="rect">
            <a:avLst/>
          </a:prstGeom>
          <a:noFill/>
        </p:spPr>
        <p:txBody>
          <a:bodyPr wrap="square" anchor="t" lIns="0" rIns="0" tIns="0" bIns="0">
            <a:spAutoFit/>
          </a:bodyPr>
          <a:lstStyle/>
          <a:p>
            <a:pPr algn="l">
              <a:lnSpc>
                <a:spcPct val="108000"/>
              </a:lnSpc>
              <a:spcAft>
                <a:spcPts val="200"/>
              </a:spcAft>
            </a:pPr>
            <a:r>
              <a:rPr sz="1300" b="1">
                <a:solidFill>
                  <a:srgbClr val="0F2A4A"/>
                </a:solidFill>
                <a:latin typeface="Segoe UI"/>
              </a:rPr>
              <a:t>Customer app</a:t>
            </a:r>
          </a:p>
          <a:p>
            <a:pPr algn="l">
              <a:lnSpc>
                <a:spcPct val="108000"/>
              </a:lnSpc>
              <a:spcAft>
                <a:spcPts val="200"/>
              </a:spcAft>
            </a:pPr>
            <a:r>
              <a:rPr sz="1250" b="0">
                <a:solidFill>
                  <a:srgbClr val="1B7F5A"/>
                </a:solidFill>
                <a:latin typeface="Segoe UI"/>
              </a:rPr>
              <a:t>snapup-monorepo-production.up.railway.app</a:t>
            </a:r>
          </a:p>
          <a:p>
            <a:pPr algn="l">
              <a:lnSpc>
                <a:spcPct val="108000"/>
              </a:lnSpc>
              <a:spcAft>
                <a:spcPts val="200"/>
              </a:spcAft>
            </a:pPr>
            <a:r>
              <a:rPr sz="1100" b="0">
                <a:solidFill>
                  <a:srgbClr val="6B7280"/>
                </a:solidFill>
                <a:latin typeface="Segoe UI"/>
              </a:rPr>
              <a:t>Entry QR, scanner, cart, checkout, bills.</a:t>
            </a:r>
          </a:p>
        </p:txBody>
      </p:sp>
      <p:sp>
        <p:nvSpPr>
          <p:cNvPr id="11" name="Rectangle 10"/>
          <p:cNvSpPr/>
          <p:nvPr/>
        </p:nvSpPr>
        <p:spPr>
          <a:xfrm>
            <a:off x="566928" y="3072384"/>
            <a:ext cx="6766560" cy="1024128"/>
          </a:xfrm>
          <a:prstGeom prst="rect">
            <a:avLst/>
          </a:prstGeom>
          <a:solidFill>
            <a:srgbClr val="F5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66928" y="3072384"/>
            <a:ext cx="54864" cy="1024128"/>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3218688"/>
            <a:ext cx="6309360" cy="822960"/>
          </a:xfrm>
          <a:prstGeom prst="rect">
            <a:avLst/>
          </a:prstGeom>
          <a:noFill/>
        </p:spPr>
        <p:txBody>
          <a:bodyPr wrap="square" anchor="t" lIns="0" rIns="0" tIns="0" bIns="0">
            <a:spAutoFit/>
          </a:bodyPr>
          <a:lstStyle/>
          <a:p>
            <a:pPr algn="l">
              <a:lnSpc>
                <a:spcPct val="108000"/>
              </a:lnSpc>
              <a:spcAft>
                <a:spcPts val="200"/>
              </a:spcAft>
            </a:pPr>
            <a:r>
              <a:rPr sz="1300" b="1">
                <a:solidFill>
                  <a:srgbClr val="0F2A4A"/>
                </a:solidFill>
                <a:latin typeface="Segoe UI"/>
              </a:rPr>
              <a:t>Owner console</a:t>
            </a:r>
          </a:p>
          <a:p>
            <a:pPr algn="l">
              <a:lnSpc>
                <a:spcPct val="108000"/>
              </a:lnSpc>
              <a:spcAft>
                <a:spcPts val="200"/>
              </a:spcAft>
            </a:pPr>
            <a:r>
              <a:rPr sz="1250" b="0">
                <a:solidFill>
                  <a:srgbClr val="1B7F5A"/>
                </a:solidFill>
                <a:latin typeface="Segoe UI"/>
              </a:rPr>
              <a:t>snapup-admin-production.up.railway.app</a:t>
            </a:r>
          </a:p>
          <a:p>
            <a:pPr algn="l">
              <a:lnSpc>
                <a:spcPct val="108000"/>
              </a:lnSpc>
              <a:spcAft>
                <a:spcPts val="200"/>
              </a:spcAft>
            </a:pPr>
            <a:r>
              <a:rPr sz="1100" b="0">
                <a:solidFill>
                  <a:srgbClr val="6B7280"/>
                </a:solidFill>
                <a:latin typeface="Segoe UI"/>
              </a:rPr>
              <a:t>Products, stores, staff, analytics.</a:t>
            </a:r>
          </a:p>
        </p:txBody>
      </p:sp>
      <p:sp>
        <p:nvSpPr>
          <p:cNvPr id="14" name="TextBox 13"/>
          <p:cNvSpPr txBox="1"/>
          <p:nvPr/>
        </p:nvSpPr>
        <p:spPr>
          <a:xfrm>
            <a:off x="566928" y="4297680"/>
            <a:ext cx="6766560" cy="1188720"/>
          </a:xfrm>
          <a:prstGeom prst="rect">
            <a:avLst/>
          </a:prstGeom>
          <a:noFill/>
        </p:spPr>
        <p:txBody>
          <a:bodyPr wrap="square" anchor="t" lIns="0" rIns="0" tIns="0" bIns="0">
            <a:spAutoFit/>
          </a:bodyPr>
          <a:lstStyle/>
          <a:p>
            <a:pPr algn="l">
              <a:lnSpc>
                <a:spcPct val="112000"/>
              </a:lnSpc>
              <a:spcAft>
                <a:spcPts val="600"/>
              </a:spcAft>
            </a:pPr>
            <a:r>
              <a:rPr sz="1300" b="1">
                <a:solidFill>
                  <a:srgbClr val="0F2A4A"/>
                </a:solidFill>
                <a:latin typeface="Segoe UI"/>
              </a:rPr>
              <a:t>Health is reported, not assumed.</a:t>
            </a:r>
          </a:p>
          <a:p>
            <a:pPr algn="l">
              <a:lnSpc>
                <a:spcPct val="112000"/>
              </a:lnSpc>
              <a:spcAft>
                <a:spcPts val="600"/>
              </a:spcAft>
            </a:pPr>
            <a:r>
              <a:rPr sz="1200" b="0">
                <a:solidFill>
                  <a:srgbClr val="4B5563"/>
                </a:solidFill>
                <a:latin typeface="Segoe UI"/>
              </a:rPr>
              <a:t>GET /api/health names every unconfigured item as a warning, so the deployment tells you what is missing rather than you remembering. It currently reports three: shared rate limiting, SMS delivery and reset email are not wired.</a:t>
            </a:r>
          </a:p>
        </p:txBody>
      </p:sp>
      <p:sp>
        <p:nvSpPr>
          <p:cNvPr id="15" name="Rectangle 14"/>
          <p:cNvSpPr/>
          <p:nvPr/>
        </p:nvSpPr>
        <p:spPr>
          <a:xfrm>
            <a:off x="7589520" y="1938528"/>
            <a:ext cx="4041648" cy="3566160"/>
          </a:xfrm>
          <a:prstGeom prst="rect">
            <a:avLst/>
          </a:prstGeom>
          <a:solidFill>
            <a:srgbClr val="ECF2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7589520" y="1938528"/>
            <a:ext cx="54864" cy="356616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882127" y="2157984"/>
            <a:ext cx="3520440" cy="3108960"/>
          </a:xfrm>
          <a:prstGeom prst="rect">
            <a:avLst/>
          </a:prstGeom>
          <a:noFill/>
        </p:spPr>
        <p:txBody>
          <a:bodyPr wrap="square" anchor="t" lIns="0" rIns="0" tIns="0" bIns="0">
            <a:spAutoFit/>
          </a:bodyPr>
          <a:lstStyle/>
          <a:p>
            <a:pPr algn="l">
              <a:lnSpc>
                <a:spcPct val="110000"/>
              </a:lnSpc>
              <a:spcAft>
                <a:spcPts val="700"/>
              </a:spcAft>
            </a:pPr>
            <a:r>
              <a:rPr sz="1350" b="1">
                <a:solidFill>
                  <a:srgbClr val="0F2A4A"/>
                </a:solidFill>
                <a:latin typeface="Segoe UI"/>
              </a:rPr>
              <a:t>Running it locally</a:t>
            </a:r>
          </a:p>
          <a:p>
            <a:pPr algn="l">
              <a:lnSpc>
                <a:spcPct val="110000"/>
              </a:lnSpc>
              <a:spcAft>
                <a:spcPts val="700"/>
              </a:spcAft>
            </a:pPr>
            <a:r>
              <a:rPr sz="1150" b="1">
                <a:solidFill>
                  <a:srgbClr val="4B5563"/>
                </a:solidFill>
                <a:latin typeface="Segoe UI"/>
              </a:rPr>
              <a:t>npm install</a:t>
            </a:r>
          </a:p>
          <a:p>
            <a:pPr algn="l">
              <a:lnSpc>
                <a:spcPct val="110000"/>
              </a:lnSpc>
              <a:spcAft>
                <a:spcPts val="700"/>
              </a:spcAft>
            </a:pPr>
            <a:r>
              <a:rPr sz="1150" b="1">
                <a:solidFill>
                  <a:srgbClr val="4B5563"/>
                </a:solidFill>
                <a:latin typeface="Segoe UI"/>
              </a:rPr>
              <a:t>npm run db:migrate</a:t>
            </a:r>
          </a:p>
          <a:p>
            <a:pPr algn="l">
              <a:lnSpc>
                <a:spcPct val="110000"/>
              </a:lnSpc>
              <a:spcAft>
                <a:spcPts val="700"/>
              </a:spcAft>
            </a:pPr>
            <a:r>
              <a:rPr sz="1150" b="1">
                <a:solidFill>
                  <a:srgbClr val="4B5563"/>
                </a:solidFill>
                <a:latin typeface="Segoe UI"/>
              </a:rPr>
              <a:t>npm run db:import -- \
  data/kumbakonam-store.csv \
  data/snapmart-products.csv</a:t>
            </a:r>
          </a:p>
          <a:p>
            <a:pPr algn="l">
              <a:lnSpc>
                <a:spcPct val="110000"/>
              </a:lnSpc>
              <a:spcAft>
                <a:spcPts val="700"/>
              </a:spcAft>
            </a:pPr>
            <a:r>
              <a:rPr sz="1150" b="1">
                <a:solidFill>
                  <a:srgbClr val="4B5563"/>
                </a:solidFill>
                <a:latin typeface="Segoe UI"/>
              </a:rPr>
              <a:t>npm run dev:customer</a:t>
            </a:r>
          </a:p>
          <a:p>
            <a:pPr algn="l">
              <a:lnSpc>
                <a:spcPct val="110000"/>
              </a:lnSpc>
              <a:spcAft>
                <a:spcPts val="700"/>
              </a:spcAft>
            </a:pPr>
            <a:r>
              <a:rPr sz="1150" b="0">
                <a:solidFill>
                  <a:srgbClr val="6B7280"/>
                </a:solidFill>
                <a:latin typeface="Segoe UI"/>
              </a:rPr>
              <a:t>The embedded engine is real Postgres compiled to WebAssembly, so local and deployed run the same schema with nothing to install.</a:t>
            </a:r>
          </a:p>
        </p:txBody>
      </p:sp>
      <p:sp>
        <p:nvSpPr>
          <p:cNvPr id="18" name="TextBox 17"/>
          <p:cNvSpPr txBox="1"/>
          <p:nvPr/>
        </p:nvSpPr>
        <p:spPr>
          <a:xfrm>
            <a:off x="566928" y="6437376"/>
            <a:ext cx="7315200" cy="237744"/>
          </a:xfrm>
          <a:prstGeom prst="rect">
            <a:avLst/>
          </a:prstGeom>
          <a:noFill/>
        </p:spPr>
        <p:txBody>
          <a:bodyPr wrap="square" anchor="t" lIns="0" rIns="0" tIns="0" bIns="0">
            <a:spAutoFit/>
          </a:bodyPr>
          <a:lstStyle/>
          <a:p>
            <a:pPr algn="l">
              <a:lnSpc>
                <a:spcPct val="100000"/>
              </a:lnSpc>
              <a:spcAft>
                <a:spcPts val="0"/>
              </a:spcAft>
            </a:pPr>
            <a:r>
              <a:rPr sz="900" b="0">
                <a:solidFill>
                  <a:srgbClr val="6B7280"/>
                </a:solidFill>
                <a:latin typeface="Segoe UI"/>
              </a:rPr>
              <a:t>SnapUp — scan-and-pay retail checkout</a:t>
            </a:r>
          </a:p>
        </p:txBody>
      </p:sp>
      <p:sp>
        <p:nvSpPr>
          <p:cNvPr id="19" name="TextBox 18"/>
          <p:cNvSpPr txBox="1"/>
          <p:nvPr/>
        </p:nvSpPr>
        <p:spPr>
          <a:xfrm>
            <a:off x="11002975" y="6437376"/>
            <a:ext cx="640080" cy="237744"/>
          </a:xfrm>
          <a:prstGeom prst="rect">
            <a:avLst/>
          </a:prstGeom>
          <a:noFill/>
        </p:spPr>
        <p:txBody>
          <a:bodyPr wrap="square" anchor="t" lIns="0" rIns="0" tIns="0" bIns="0">
            <a:spAutoFit/>
          </a:bodyPr>
          <a:lstStyle/>
          <a:p>
            <a:pPr algn="r">
              <a:lnSpc>
                <a:spcPct val="100000"/>
              </a:lnSpc>
              <a:spcAft>
                <a:spcPts val="0"/>
              </a:spcAft>
            </a:pPr>
            <a:r>
              <a:rPr sz="900" b="0">
                <a:solidFill>
                  <a:srgbClr val="6B7280"/>
                </a:solidFill>
                <a:latin typeface="Segoe U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6858000"/>
          </a:xfrm>
          <a:prstGeom prst="rect">
            <a:avLst/>
          </a:prstGeom>
          <a:solidFill>
            <a:srgbClr val="1B7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371600"/>
            <a:ext cx="10058400" cy="457200"/>
          </a:xfrm>
          <a:prstGeom prst="rect">
            <a:avLst/>
          </a:prstGeom>
          <a:noFill/>
        </p:spPr>
        <p:txBody>
          <a:bodyPr wrap="square" anchor="t" lIns="0" rIns="0" tIns="0" bIns="0">
            <a:spAutoFit/>
          </a:bodyPr>
          <a:lstStyle/>
          <a:p>
            <a:pPr algn="l">
              <a:lnSpc>
                <a:spcPct val="100000"/>
              </a:lnSpc>
              <a:spcAft>
                <a:spcPts val="1400"/>
              </a:spcAft>
            </a:pPr>
            <a:r>
              <a:rPr sz="1200" b="1">
                <a:solidFill>
                  <a:srgbClr val="7FC8AC"/>
                </a:solidFill>
                <a:latin typeface="Segoe UI"/>
              </a:rPr>
              <a:t>IN SUMMARY</a:t>
            </a:r>
          </a:p>
        </p:txBody>
      </p:sp>
      <p:sp>
        <p:nvSpPr>
          <p:cNvPr id="5" name="TextBox 4"/>
          <p:cNvSpPr txBox="1"/>
          <p:nvPr/>
        </p:nvSpPr>
        <p:spPr>
          <a:xfrm>
            <a:off x="914400" y="1874519"/>
            <a:ext cx="10241280" cy="822960"/>
          </a:xfrm>
          <a:prstGeom prst="rect">
            <a:avLst/>
          </a:prstGeom>
          <a:noFill/>
        </p:spPr>
        <p:txBody>
          <a:bodyPr wrap="square" anchor="t" lIns="0" rIns="0" tIns="0" bIns="0">
            <a:spAutoFit/>
          </a:bodyPr>
          <a:lstStyle/>
          <a:p>
            <a:pPr algn="l">
              <a:lnSpc>
                <a:spcPct val="100000"/>
              </a:lnSpc>
              <a:spcAft>
                <a:spcPts val="1800"/>
              </a:spcAft>
            </a:pPr>
            <a:r>
              <a:rPr sz="3600" b="1">
                <a:solidFill>
                  <a:srgbClr val="FFFFFF"/>
                </a:solidFill>
                <a:latin typeface="Segoe UI"/>
              </a:rPr>
              <a:t>The parts that must be right, are</a:t>
            </a:r>
          </a:p>
        </p:txBody>
      </p:sp>
      <p:sp>
        <p:nvSpPr>
          <p:cNvPr id="6" name="Rectangle 5"/>
          <p:cNvSpPr/>
          <p:nvPr/>
        </p:nvSpPr>
        <p:spPr>
          <a:xfrm>
            <a:off x="914400" y="3145536"/>
            <a:ext cx="82296" cy="82296"/>
          </a:xfrm>
          <a:prstGeom prst="rect">
            <a:avLst/>
          </a:prstGeom>
          <a:solidFill>
            <a:srgbClr val="1B7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07008" y="3063240"/>
            <a:ext cx="9966960" cy="457200"/>
          </a:xfrm>
          <a:prstGeom prst="rect">
            <a:avLst/>
          </a:prstGeom>
          <a:noFill/>
        </p:spPr>
        <p:txBody>
          <a:bodyPr wrap="square" anchor="t" lIns="0" rIns="0" tIns="0" bIns="0">
            <a:spAutoFit/>
          </a:bodyPr>
          <a:lstStyle/>
          <a:p>
            <a:pPr algn="l">
              <a:lnSpc>
                <a:spcPct val="110000"/>
              </a:lnSpc>
              <a:spcAft>
                <a:spcPts val="0"/>
              </a:spcAft>
            </a:pPr>
            <a:r>
              <a:rPr sz="1450" b="0">
                <a:solidFill>
                  <a:srgbClr val="C6D4E2"/>
                </a:solidFill>
                <a:latin typeface="Segoe UI"/>
              </a:rPr>
              <a:t>Presence is proven by something the customer's device cannot assert.</a:t>
            </a:r>
          </a:p>
        </p:txBody>
      </p:sp>
      <p:sp>
        <p:nvSpPr>
          <p:cNvPr id="8" name="Rectangle 7"/>
          <p:cNvSpPr/>
          <p:nvPr/>
        </p:nvSpPr>
        <p:spPr>
          <a:xfrm>
            <a:off x="914400" y="3712464"/>
            <a:ext cx="82296" cy="82296"/>
          </a:xfrm>
          <a:prstGeom prst="rect">
            <a:avLst/>
          </a:prstGeom>
          <a:solidFill>
            <a:srgbClr val="1B7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207008" y="3630168"/>
            <a:ext cx="9966960" cy="457200"/>
          </a:xfrm>
          <a:prstGeom prst="rect">
            <a:avLst/>
          </a:prstGeom>
          <a:noFill/>
        </p:spPr>
        <p:txBody>
          <a:bodyPr wrap="square" anchor="t" lIns="0" rIns="0" tIns="0" bIns="0">
            <a:spAutoFit/>
          </a:bodyPr>
          <a:lstStyle/>
          <a:p>
            <a:pPr algn="l">
              <a:lnSpc>
                <a:spcPct val="110000"/>
              </a:lnSpc>
              <a:spcAft>
                <a:spcPts val="0"/>
              </a:spcAft>
            </a:pPr>
            <a:r>
              <a:rPr sz="1450" b="0">
                <a:solidFill>
                  <a:srgbClr val="C6D4E2"/>
                </a:solidFill>
                <a:latin typeface="Segoe UI"/>
              </a:rPr>
              <a:t>Stock moves once, at staff approval, in a single statement that cannot half-happen.</a:t>
            </a:r>
          </a:p>
        </p:txBody>
      </p:sp>
      <p:sp>
        <p:nvSpPr>
          <p:cNvPr id="10" name="Rectangle 9"/>
          <p:cNvSpPr/>
          <p:nvPr/>
        </p:nvSpPr>
        <p:spPr>
          <a:xfrm>
            <a:off x="914400" y="4279392"/>
            <a:ext cx="82296" cy="82296"/>
          </a:xfrm>
          <a:prstGeom prst="rect">
            <a:avLst/>
          </a:prstGeom>
          <a:solidFill>
            <a:srgbClr val="1B7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207008" y="4197096"/>
            <a:ext cx="9966960" cy="457200"/>
          </a:xfrm>
          <a:prstGeom prst="rect">
            <a:avLst/>
          </a:prstGeom>
          <a:noFill/>
        </p:spPr>
        <p:txBody>
          <a:bodyPr wrap="square" anchor="t" lIns="0" rIns="0" tIns="0" bIns="0">
            <a:spAutoFit/>
          </a:bodyPr>
          <a:lstStyle/>
          <a:p>
            <a:pPr algn="l">
              <a:lnSpc>
                <a:spcPct val="110000"/>
              </a:lnSpc>
              <a:spcAft>
                <a:spcPts val="0"/>
              </a:spcAft>
            </a:pPr>
            <a:r>
              <a:rPr sz="1450" b="0">
                <a:solidFill>
                  <a:srgbClr val="C6D4E2"/>
                </a:solidFill>
                <a:latin typeface="Segoe UI"/>
              </a:rPr>
              <a:t>One payment yields one bill, because the database refuses the second — not because code remembered to check.</a:t>
            </a:r>
          </a:p>
        </p:txBody>
      </p:sp>
      <p:sp>
        <p:nvSpPr>
          <p:cNvPr id="12" name="Rectangle 11"/>
          <p:cNvSpPr/>
          <p:nvPr/>
        </p:nvSpPr>
        <p:spPr>
          <a:xfrm>
            <a:off x="914400" y="4846320"/>
            <a:ext cx="82296" cy="82296"/>
          </a:xfrm>
          <a:prstGeom prst="rect">
            <a:avLst/>
          </a:prstGeom>
          <a:solidFill>
            <a:srgbClr val="1B7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207008" y="4764024"/>
            <a:ext cx="9966960" cy="457200"/>
          </a:xfrm>
          <a:prstGeom prst="rect">
            <a:avLst/>
          </a:prstGeom>
          <a:noFill/>
        </p:spPr>
        <p:txBody>
          <a:bodyPr wrap="square" anchor="t" lIns="0" rIns="0" tIns="0" bIns="0">
            <a:spAutoFit/>
          </a:bodyPr>
          <a:lstStyle/>
          <a:p>
            <a:pPr algn="l">
              <a:lnSpc>
                <a:spcPct val="110000"/>
              </a:lnSpc>
              <a:spcAft>
                <a:spcPts val="0"/>
              </a:spcAft>
            </a:pPr>
            <a:r>
              <a:rPr sz="1450" b="0">
                <a:solidFill>
                  <a:srgbClr val="C6D4E2"/>
                </a:solidFill>
                <a:latin typeface="Segoe UI"/>
              </a:rPr>
              <a:t>The sync carries deltas and reconciles, so the shop's own till sales are never overwritten.</a:t>
            </a:r>
          </a:p>
        </p:txBody>
      </p:sp>
      <p:sp>
        <p:nvSpPr>
          <p:cNvPr id="14" name="Rectangle 13"/>
          <p:cNvSpPr/>
          <p:nvPr/>
        </p:nvSpPr>
        <p:spPr>
          <a:xfrm>
            <a:off x="914400" y="5413248"/>
            <a:ext cx="82296" cy="82296"/>
          </a:xfrm>
          <a:prstGeom prst="rect">
            <a:avLst/>
          </a:prstGeom>
          <a:solidFill>
            <a:srgbClr val="1B7F5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207008" y="5330952"/>
            <a:ext cx="9966960" cy="457200"/>
          </a:xfrm>
          <a:prstGeom prst="rect">
            <a:avLst/>
          </a:prstGeom>
          <a:noFill/>
        </p:spPr>
        <p:txBody>
          <a:bodyPr wrap="square" anchor="t" lIns="0" rIns="0" tIns="0" bIns="0">
            <a:spAutoFit/>
          </a:bodyPr>
          <a:lstStyle/>
          <a:p>
            <a:pPr algn="l">
              <a:lnSpc>
                <a:spcPct val="110000"/>
              </a:lnSpc>
              <a:spcAft>
                <a:spcPts val="0"/>
              </a:spcAft>
            </a:pPr>
            <a:r>
              <a:rPr sz="1450" b="0">
                <a:solidFill>
                  <a:srgbClr val="C6D4E2"/>
                </a:solidFill>
                <a:latin typeface="Segoe UI"/>
              </a:rPr>
              <a:t>What is unfinished is named, and the two blocked decisions are on the table.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